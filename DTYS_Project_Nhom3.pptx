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3"/>
  </p:handoutMasterIdLst>
  <p:sldIdLst>
    <p:sldId id="256" r:id="rId2"/>
    <p:sldId id="301" r:id="rId3"/>
    <p:sldId id="278" r:id="rId4"/>
    <p:sldId id="260" r:id="rId5"/>
    <p:sldId id="319" r:id="rId6"/>
    <p:sldId id="320" r:id="rId7"/>
    <p:sldId id="267" r:id="rId8"/>
    <p:sldId id="321" r:id="rId9"/>
    <p:sldId id="322" r:id="rId10"/>
    <p:sldId id="25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8A8"/>
    <a:srgbClr val="254B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7190" autoAdjust="0"/>
  </p:normalViewPr>
  <p:slideViewPr>
    <p:cSldViewPr snapToGrid="0">
      <p:cViewPr varScale="1">
        <p:scale>
          <a:sx n="111" d="100"/>
          <a:sy n="111" d="100"/>
        </p:scale>
        <p:origin x="558"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6A7F69-B3EE-4F0E-A953-5FECCFAD55F0}" type="datetimeFigureOut">
              <a:rPr lang="en-US" smtClean="0"/>
              <a:t>1/14/2026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E09DB1-5C24-422D-B7E4-F2A03CE1B131}"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3228EE-4F98-4D0A-98F6-E28540DF632E}" type="datetimeFigureOut">
              <a:rPr lang="en-US" smtClean="0"/>
              <a:t>1/14/2026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13D2B0-37D4-4E64-A724-D40097F52D2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Nhịp tim bình thường trên ECG được hình thành bởi sóng P, phức hợp QRS và sóng T. Để phân tích một điện tâm đồ, cần xem xét sự hiện diện của các sóng này, hình dạng và thời gian kéo dài của chúng, cũng như đoạn ST (thời gian diễn ra giữa kết thúc khử cực và bắt đầu tái cực của tâm thất, thường nhỏ hơn 1 mm; nếu lớn hơn 1 mm thì có thể chỉ ra nhồi máu hoặc thiếu máu cục bộ).</a:t>
            </a:r>
          </a:p>
          <a:p>
            <a:r>
              <a:rPr lang="vi-VN" dirty="0"/>
              <a:t>Sóng P cho phép chúng ta biết thời gian giữa các nhịp tim, được biểu diễn dưới dạng một đường thẳng giữa điểm thấp nhất và điểm cao nhất. Sóng T biểu thị nhịp nhỏ dễ nhận thấy sau nhịp đầu tiên và đánh dấu sự kết thúc của một chu kỳ tim. Thời gian trôi qua giữa các sóng này phải khá đều đặn trong suốt bài kiểm tra. Nếu ngược lại, thời gian trôi qua thay đổi, điều này chỉ ra một sự bất thường trong nhịp tim.</a:t>
            </a:r>
          </a:p>
          <a:p>
            <a:endParaRPr lang="en-US" dirty="0"/>
          </a:p>
        </p:txBody>
      </p:sp>
      <p:sp>
        <p:nvSpPr>
          <p:cNvPr id="4" name="Slide Number Placeholder 3"/>
          <p:cNvSpPr>
            <a:spLocks noGrp="1"/>
          </p:cNvSpPr>
          <p:nvPr>
            <p:ph type="sldNum" sz="quarter" idx="5"/>
          </p:nvPr>
        </p:nvSpPr>
        <p:spPr/>
        <p:txBody>
          <a:bodyPr/>
          <a:lstStyle/>
          <a:p>
            <a:fld id="{0E13D2B0-37D4-4E64-A724-D40097F52D27}" type="slidenum">
              <a:rPr lang="en-US" smtClean="0"/>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13D2B0-37D4-4E64-A724-D40097F52D27}" type="slidenum">
              <a:rPr lang="en-US" smtClean="0"/>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13D2B0-37D4-4E64-A724-D40097F52D27}" type="slidenum">
              <a:rPr lang="en-US" smtClean="0"/>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1" name="Rectangle 30"/>
          <p:cNvSpPr/>
          <p:nvPr userDrawn="1"/>
        </p:nvSpPr>
        <p:spPr>
          <a:xfrm>
            <a:off x="0" y="2133600"/>
            <a:ext cx="12192000" cy="2446020"/>
          </a:xfrm>
          <a:prstGeom prst="rect">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userDrawn="1"/>
        </p:nvSpPr>
        <p:spPr>
          <a:xfrm>
            <a:off x="3509818" y="1933507"/>
            <a:ext cx="5440218" cy="27344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6356350"/>
            <a:ext cx="12192000" cy="515144"/>
          </a:xfrm>
          <a:prstGeom prst="rect">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0" y="0"/>
            <a:ext cx="12192000" cy="1030288"/>
          </a:xfrm>
          <a:prstGeom prst="rect">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0"/>
            <a:ext cx="923636" cy="1030288"/>
          </a:xfrm>
          <a:prstGeom prst="rect">
            <a:avLst/>
          </a:prstGeom>
          <a:solidFill>
            <a:schemeClr val="bg2">
              <a:lumMod val="2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p:cNvSpPr/>
          <p:nvPr userDrawn="1"/>
        </p:nvSpPr>
        <p:spPr>
          <a:xfrm>
            <a:off x="397164" y="0"/>
            <a:ext cx="1357745" cy="10302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ue and white logo&#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7964" y="21075"/>
            <a:ext cx="1256144" cy="1029203"/>
          </a:xfrm>
          <a:prstGeom prst="rect">
            <a:avLst/>
          </a:prstGeom>
        </p:spPr>
      </p:pic>
      <p:sp>
        <p:nvSpPr>
          <p:cNvPr id="15" name="Isosceles Triangle 14"/>
          <p:cNvSpPr/>
          <p:nvPr userDrawn="1"/>
        </p:nvSpPr>
        <p:spPr>
          <a:xfrm rot="16200000">
            <a:off x="10489984" y="-671733"/>
            <a:ext cx="1030288" cy="2373746"/>
          </a:xfrm>
          <a:prstGeom prst="triangle">
            <a:avLst>
              <a:gd name="adj" fmla="val 100000"/>
            </a:avLst>
          </a:prstGeom>
          <a:solidFill>
            <a:srgbClr val="254B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userDrawn="1"/>
        </p:nvSpPr>
        <p:spPr>
          <a:xfrm>
            <a:off x="1921164" y="160261"/>
            <a:ext cx="9652000" cy="707886"/>
          </a:xfrm>
          <a:prstGeom prst="rect">
            <a:avLst/>
          </a:prstGeom>
          <a:noFill/>
        </p:spPr>
        <p:txBody>
          <a:bodyPr wrap="square" rtlCol="0">
            <a:spAutoFit/>
          </a:bodyPr>
          <a:lstStyle/>
          <a:p>
            <a:pPr algn="ctr"/>
            <a:r>
              <a:rPr lang="en-US" sz="2000" b="1">
                <a:solidFill>
                  <a:schemeClr val="bg1"/>
                </a:solidFill>
                <a:latin typeface="Segoe UI" panose="020B0502040204020203" pitchFamily="34" charset="0"/>
                <a:cs typeface="Segoe UI" panose="020B0502040204020203" pitchFamily="34" charset="0"/>
              </a:rPr>
              <a:t>VNUHCM – UNIVERSITY OF SCIENCE</a:t>
            </a:r>
          </a:p>
          <a:p>
            <a:pPr algn="ctr"/>
            <a:r>
              <a:rPr lang="en-US" sz="2000" b="1">
                <a:solidFill>
                  <a:schemeClr val="bg1"/>
                </a:solidFill>
                <a:latin typeface="Segoe UI" panose="020B0502040204020203" pitchFamily="34" charset="0"/>
                <a:cs typeface="Segoe UI" panose="020B0502040204020203" pitchFamily="34" charset="0"/>
              </a:rPr>
              <a:t>FACULTY OF ELECTRONICS – TELECOMMUNICATIONS</a:t>
            </a:r>
          </a:p>
        </p:txBody>
      </p:sp>
      <p:sp>
        <p:nvSpPr>
          <p:cNvPr id="30" name="Oval 29"/>
          <p:cNvSpPr/>
          <p:nvPr userDrawn="1"/>
        </p:nvSpPr>
        <p:spPr>
          <a:xfrm>
            <a:off x="7615382" y="1844838"/>
            <a:ext cx="2983346" cy="298334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userDrawn="1"/>
        </p:nvSpPr>
        <p:spPr>
          <a:xfrm>
            <a:off x="1879599" y="1937327"/>
            <a:ext cx="2983346" cy="298334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p:cNvSpPr/>
          <p:nvPr userDrawn="1"/>
        </p:nvSpPr>
        <p:spPr>
          <a:xfrm>
            <a:off x="0" y="6356350"/>
            <a:ext cx="12192000" cy="515144"/>
          </a:xfrm>
          <a:prstGeom prst="rect">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solidFill>
                <a:schemeClr val="bg1"/>
              </a:solidFill>
              <a:latin typeface="Segoe UI" panose="020B0502040204020203" pitchFamily="34" charset="0"/>
              <a:cs typeface="Segoe UI" panose="020B0502040204020203" pitchFamily="34" charset="0"/>
            </a:endParaRPr>
          </a:p>
        </p:txBody>
      </p:sp>
      <p:sp>
        <p:nvSpPr>
          <p:cNvPr id="7" name="Rectangle 6"/>
          <p:cNvSpPr/>
          <p:nvPr userDrawn="1"/>
        </p:nvSpPr>
        <p:spPr>
          <a:xfrm>
            <a:off x="0" y="0"/>
            <a:ext cx="12192000" cy="1030288"/>
          </a:xfrm>
          <a:prstGeom prst="rect">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20676"/>
            <a:ext cx="10515600" cy="575252"/>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460500"/>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17764" y="6431359"/>
            <a:ext cx="2743200" cy="365125"/>
          </a:xfrm>
        </p:spPr>
        <p:txBody>
          <a:bodyPr/>
          <a:lstStyle>
            <a:lvl1pPr>
              <a:defRPr sz="1400" b="1">
                <a:solidFill>
                  <a:schemeClr val="bg1"/>
                </a:solidFill>
                <a:latin typeface="Segoe UI" panose="020B0502040204020203" pitchFamily="34" charset="0"/>
                <a:cs typeface="Segoe UI" panose="020B0502040204020203" pitchFamily="34" charset="0"/>
              </a:defRPr>
            </a:lvl1pPr>
          </a:lstStyle>
          <a:p>
            <a:fld id="{8F24CB84-C55C-4A82-835D-EB9452E1C125}" type="datetime1">
              <a:rPr lang="en-US" smtClean="0"/>
              <a:t>1/14/2026</a:t>
            </a:fld>
            <a:endParaRPr lang="en-US"/>
          </a:p>
        </p:txBody>
      </p:sp>
      <p:sp>
        <p:nvSpPr>
          <p:cNvPr id="5" name="Footer Placeholder 4"/>
          <p:cNvSpPr>
            <a:spLocks noGrp="1"/>
          </p:cNvSpPr>
          <p:nvPr>
            <p:ph type="ftr" sz="quarter" idx="11"/>
          </p:nvPr>
        </p:nvSpPr>
        <p:spPr>
          <a:xfrm>
            <a:off x="4038600" y="6431358"/>
            <a:ext cx="4114800" cy="365125"/>
          </a:xfrm>
        </p:spPr>
        <p:txBody>
          <a:bodyPr/>
          <a:lstStyle>
            <a:lvl1pPr>
              <a:defRPr sz="1400" b="1">
                <a:solidFill>
                  <a:schemeClr val="bg1"/>
                </a:solidFill>
                <a:latin typeface="Segoe UI" panose="020B0502040204020203" pitchFamily="34" charset="0"/>
                <a:cs typeface="Segoe UI" panose="020B0502040204020203" pitchFamily="34" charset="0"/>
              </a:defRPr>
            </a:lvl1pPr>
          </a:lstStyle>
          <a:p>
            <a:endParaRPr lang="en-US"/>
          </a:p>
        </p:txBody>
      </p:sp>
      <p:sp>
        <p:nvSpPr>
          <p:cNvPr id="6" name="Slide Number Placeholder 5"/>
          <p:cNvSpPr>
            <a:spLocks noGrp="1"/>
          </p:cNvSpPr>
          <p:nvPr>
            <p:ph type="sldNum" sz="quarter" idx="12"/>
          </p:nvPr>
        </p:nvSpPr>
        <p:spPr>
          <a:xfrm>
            <a:off x="9331036" y="6437998"/>
            <a:ext cx="2743200" cy="365125"/>
          </a:xfrm>
        </p:spPr>
        <p:txBody>
          <a:bodyPr/>
          <a:lstStyle>
            <a:lvl1pPr>
              <a:defRPr sz="1400" b="1">
                <a:solidFill>
                  <a:schemeClr val="bg1"/>
                </a:solidFill>
                <a:latin typeface="Segoe UI" panose="020B0502040204020203" pitchFamily="34" charset="0"/>
                <a:cs typeface="Segoe UI" panose="020B0502040204020203" pitchFamily="34" charset="0"/>
              </a:defRPr>
            </a:lvl1pPr>
          </a:lstStyle>
          <a:p>
            <a:fld id="{2F95168B-6F19-4F5F-A403-0F4FF873F036}" type="slidenum">
              <a:rPr lang="en-US" smtClean="0"/>
              <a:t>‹#›</a:t>
            </a:fld>
            <a:endParaRPr lang="en-US"/>
          </a:p>
        </p:txBody>
      </p:sp>
      <p:sp>
        <p:nvSpPr>
          <p:cNvPr id="15" name="Isosceles Triangle 14"/>
          <p:cNvSpPr/>
          <p:nvPr userDrawn="1"/>
        </p:nvSpPr>
        <p:spPr>
          <a:xfrm rot="16200000">
            <a:off x="10489984" y="-671733"/>
            <a:ext cx="1030288" cy="2373746"/>
          </a:xfrm>
          <a:prstGeom prst="triangle">
            <a:avLst>
              <a:gd name="adj" fmla="val 100000"/>
            </a:avLst>
          </a:prstGeom>
          <a:solidFill>
            <a:srgbClr val="254B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p:cNvSpPr/>
          <p:nvPr userDrawn="1"/>
        </p:nvSpPr>
        <p:spPr>
          <a:xfrm>
            <a:off x="0" y="0"/>
            <a:ext cx="12192000" cy="1030288"/>
          </a:xfrm>
          <a:prstGeom prst="rect">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p:cNvSpPr/>
          <p:nvPr userDrawn="1"/>
        </p:nvSpPr>
        <p:spPr>
          <a:xfrm rot="16200000">
            <a:off x="10489984" y="-671733"/>
            <a:ext cx="1030288" cy="2373746"/>
          </a:xfrm>
          <a:prstGeom prst="triangle">
            <a:avLst>
              <a:gd name="adj" fmla="val 100000"/>
            </a:avLst>
          </a:prstGeom>
          <a:solidFill>
            <a:srgbClr val="254B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5827712"/>
            <a:ext cx="12192000" cy="1030288"/>
          </a:xfrm>
          <a:prstGeom prst="rect">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p:cNvSpPr/>
          <p:nvPr userDrawn="1"/>
        </p:nvSpPr>
        <p:spPr>
          <a:xfrm rot="16200000">
            <a:off x="10489984" y="5155979"/>
            <a:ext cx="1030288" cy="2373746"/>
          </a:xfrm>
          <a:prstGeom prst="triangle">
            <a:avLst>
              <a:gd name="adj" fmla="val 0"/>
            </a:avLst>
          </a:prstGeom>
          <a:solidFill>
            <a:srgbClr val="254B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Pentagon 11"/>
          <p:cNvSpPr/>
          <p:nvPr userDrawn="1"/>
        </p:nvSpPr>
        <p:spPr>
          <a:xfrm>
            <a:off x="0" y="2613891"/>
            <a:ext cx="1182255" cy="1773382"/>
          </a:xfrm>
          <a:prstGeom prst="homePlate">
            <a:avLst>
              <a:gd name="adj" fmla="val 67187"/>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Chevron 12"/>
          <p:cNvSpPr/>
          <p:nvPr userDrawn="1"/>
        </p:nvSpPr>
        <p:spPr>
          <a:xfrm>
            <a:off x="591127" y="2613891"/>
            <a:ext cx="2654166" cy="1773382"/>
          </a:xfrm>
          <a:prstGeom prst="chevron">
            <a:avLst>
              <a:gd name="adj" fmla="val 44792"/>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800" b="1">
              <a:solidFill>
                <a:schemeClr val="bg1"/>
              </a:solidFill>
              <a:latin typeface="Segoe UI" panose="020B0502040204020203" pitchFamily="34" charset="0"/>
              <a:cs typeface="Segoe UI" panose="020B0502040204020203" pitchFamily="34" charset="0"/>
            </a:endParaRPr>
          </a:p>
        </p:txBody>
      </p:sp>
      <p:sp>
        <p:nvSpPr>
          <p:cNvPr id="14" name="Rectangle 13"/>
          <p:cNvSpPr/>
          <p:nvPr userDrawn="1"/>
        </p:nvSpPr>
        <p:spPr>
          <a:xfrm>
            <a:off x="3562282" y="2613891"/>
            <a:ext cx="7179609" cy="1773382"/>
          </a:xfrm>
          <a:prstGeom prst="rect">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Chevron 15"/>
          <p:cNvSpPr/>
          <p:nvPr userDrawn="1"/>
        </p:nvSpPr>
        <p:spPr>
          <a:xfrm>
            <a:off x="2609169" y="2613891"/>
            <a:ext cx="1906226" cy="1773382"/>
          </a:xfrm>
          <a:prstGeom prst="chevron">
            <a:avLst>
              <a:gd name="adj" fmla="val 46354"/>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Arrow: Pentagon 16"/>
          <p:cNvSpPr/>
          <p:nvPr userDrawn="1"/>
        </p:nvSpPr>
        <p:spPr>
          <a:xfrm rot="10800000">
            <a:off x="11005128" y="2613891"/>
            <a:ext cx="1182255" cy="1773382"/>
          </a:xfrm>
          <a:prstGeom prst="homePlate">
            <a:avLst>
              <a:gd name="adj" fmla="val 67187"/>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Chevron 17"/>
          <p:cNvSpPr/>
          <p:nvPr userDrawn="1"/>
        </p:nvSpPr>
        <p:spPr>
          <a:xfrm rot="10800000">
            <a:off x="9750169" y="2613891"/>
            <a:ext cx="1906226" cy="1773382"/>
          </a:xfrm>
          <a:prstGeom prst="chevron">
            <a:avLst>
              <a:gd name="adj" fmla="val 46354"/>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Isosceles Triangle 19"/>
          <p:cNvSpPr/>
          <p:nvPr userDrawn="1"/>
        </p:nvSpPr>
        <p:spPr>
          <a:xfrm rot="5400000">
            <a:off x="667111" y="-671733"/>
            <a:ext cx="1030288" cy="2373746"/>
          </a:xfrm>
          <a:prstGeom prst="triangle">
            <a:avLst>
              <a:gd name="adj" fmla="val 491"/>
            </a:avLst>
          </a:prstGeom>
          <a:solidFill>
            <a:srgbClr val="254B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p:cNvSpPr/>
          <p:nvPr userDrawn="1"/>
        </p:nvSpPr>
        <p:spPr>
          <a:xfrm rot="5400000">
            <a:off x="671729" y="5155983"/>
            <a:ext cx="1030288" cy="2373746"/>
          </a:xfrm>
          <a:prstGeom prst="triangle">
            <a:avLst>
              <a:gd name="adj" fmla="val 100000"/>
            </a:avLst>
          </a:prstGeom>
          <a:solidFill>
            <a:srgbClr val="254B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ate Placeholder 3"/>
          <p:cNvSpPr>
            <a:spLocks noGrp="1"/>
          </p:cNvSpPr>
          <p:nvPr>
            <p:ph type="dt" sz="half" idx="10"/>
          </p:nvPr>
        </p:nvSpPr>
        <p:spPr>
          <a:xfrm>
            <a:off x="117764" y="6431359"/>
            <a:ext cx="2743200" cy="365125"/>
          </a:xfrm>
        </p:spPr>
        <p:txBody>
          <a:bodyPr/>
          <a:lstStyle>
            <a:lvl1pPr>
              <a:defRPr sz="1400" b="1">
                <a:solidFill>
                  <a:schemeClr val="bg1"/>
                </a:solidFill>
                <a:latin typeface="Segoe UI" panose="020B0502040204020203" pitchFamily="34" charset="0"/>
                <a:cs typeface="Segoe UI" panose="020B0502040204020203" pitchFamily="34" charset="0"/>
              </a:defRPr>
            </a:lvl1pPr>
          </a:lstStyle>
          <a:p>
            <a:fld id="{8F24CB84-C55C-4A82-835D-EB9452E1C125}" type="datetime1">
              <a:rPr lang="en-US" smtClean="0"/>
              <a:t>1/14/2026</a:t>
            </a:fld>
            <a:endParaRPr lang="en-US"/>
          </a:p>
        </p:txBody>
      </p:sp>
      <p:sp>
        <p:nvSpPr>
          <p:cNvPr id="23" name="Footer Placeholder 4"/>
          <p:cNvSpPr>
            <a:spLocks noGrp="1"/>
          </p:cNvSpPr>
          <p:nvPr>
            <p:ph type="ftr" sz="quarter" idx="11"/>
          </p:nvPr>
        </p:nvSpPr>
        <p:spPr>
          <a:xfrm>
            <a:off x="4038600" y="6431358"/>
            <a:ext cx="4114800" cy="365125"/>
          </a:xfrm>
        </p:spPr>
        <p:txBody>
          <a:bodyPr/>
          <a:lstStyle>
            <a:lvl1pPr>
              <a:defRPr sz="1400" b="1">
                <a:solidFill>
                  <a:schemeClr val="bg1"/>
                </a:solidFill>
                <a:latin typeface="Segoe UI" panose="020B0502040204020203" pitchFamily="34" charset="0"/>
                <a:cs typeface="Segoe UI" panose="020B0502040204020203" pitchFamily="34" charset="0"/>
              </a:defRPr>
            </a:lvl1pPr>
          </a:lstStyle>
          <a:p>
            <a:endParaRPr lang="en-US"/>
          </a:p>
        </p:txBody>
      </p:sp>
      <p:sp>
        <p:nvSpPr>
          <p:cNvPr id="24" name="Slide Number Placeholder 5"/>
          <p:cNvSpPr>
            <a:spLocks noGrp="1"/>
          </p:cNvSpPr>
          <p:nvPr>
            <p:ph type="sldNum" sz="quarter" idx="12"/>
          </p:nvPr>
        </p:nvSpPr>
        <p:spPr>
          <a:xfrm>
            <a:off x="9331036" y="6437998"/>
            <a:ext cx="2743200" cy="365125"/>
          </a:xfrm>
        </p:spPr>
        <p:txBody>
          <a:bodyPr/>
          <a:lstStyle>
            <a:lvl1pPr>
              <a:defRPr sz="1400" b="1">
                <a:solidFill>
                  <a:schemeClr val="bg1"/>
                </a:solidFill>
                <a:latin typeface="Segoe UI" panose="020B0502040204020203" pitchFamily="34" charset="0"/>
                <a:cs typeface="Segoe UI" panose="020B0502040204020203" pitchFamily="34" charset="0"/>
              </a:defRPr>
            </a:lvl1pPr>
          </a:lstStyle>
          <a:p>
            <a:fld id="{2F95168B-6F19-4F5F-A403-0F4FF873F03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Rectangle 7"/>
          <p:cNvSpPr/>
          <p:nvPr userDrawn="1"/>
        </p:nvSpPr>
        <p:spPr>
          <a:xfrm>
            <a:off x="0" y="4959926"/>
            <a:ext cx="12192000" cy="1911567"/>
          </a:xfrm>
          <a:prstGeom prst="rect">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0" y="0"/>
            <a:ext cx="12192000" cy="1030288"/>
          </a:xfrm>
          <a:prstGeom prst="rect">
            <a:avLst/>
          </a:prstGeom>
          <a:solidFill>
            <a:srgbClr val="2158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p:cNvSpPr/>
          <p:nvPr userDrawn="1"/>
        </p:nvSpPr>
        <p:spPr>
          <a:xfrm rot="16200000">
            <a:off x="10489984" y="-671733"/>
            <a:ext cx="1030288" cy="2373746"/>
          </a:xfrm>
          <a:prstGeom prst="triangle">
            <a:avLst>
              <a:gd name="adj" fmla="val 100000"/>
            </a:avLst>
          </a:prstGeom>
          <a:solidFill>
            <a:srgbClr val="254B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0"/>
            <a:ext cx="923636" cy="1030288"/>
          </a:xfrm>
          <a:prstGeom prst="rect">
            <a:avLst/>
          </a:prstGeom>
          <a:solidFill>
            <a:schemeClr val="bg2">
              <a:lumMod val="2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p:cNvSpPr/>
          <p:nvPr userDrawn="1"/>
        </p:nvSpPr>
        <p:spPr>
          <a:xfrm>
            <a:off x="397164" y="0"/>
            <a:ext cx="1357745" cy="10302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blue and white logo&#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7964" y="21075"/>
            <a:ext cx="1256144" cy="1029203"/>
          </a:xfrm>
          <a:prstGeom prst="rect">
            <a:avLst/>
          </a:prstGeom>
        </p:spPr>
      </p:pic>
      <p:sp>
        <p:nvSpPr>
          <p:cNvPr id="12" name="TextBox 11"/>
          <p:cNvSpPr txBox="1"/>
          <p:nvPr userDrawn="1"/>
        </p:nvSpPr>
        <p:spPr>
          <a:xfrm>
            <a:off x="1921164" y="218748"/>
            <a:ext cx="965200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cs typeface="Segoe UI" panose="020B0502040204020203" pitchFamily="34" charset="0"/>
              </a:rPr>
              <a:t>THANK YOU FOR YOUR ATTENTION</a:t>
            </a:r>
          </a:p>
        </p:txBody>
      </p:sp>
      <p:pic>
        <p:nvPicPr>
          <p:cNvPr id="16" name="Graphic 15" descr="Questions with solid fill"/>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66491" y="1485594"/>
            <a:ext cx="2998174" cy="2998174"/>
          </a:xfrm>
          <a:prstGeom prst="rect">
            <a:avLst/>
          </a:prstGeom>
        </p:spPr>
      </p:pic>
      <p:cxnSp>
        <p:nvCxnSpPr>
          <p:cNvPr id="18" name="Straight Connector 17"/>
          <p:cNvCxnSpPr/>
          <p:nvPr userDrawn="1"/>
        </p:nvCxnSpPr>
        <p:spPr>
          <a:xfrm>
            <a:off x="-5953" y="2984681"/>
            <a:ext cx="4372444"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7364665" y="2984681"/>
            <a:ext cx="482733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1" name="Date Placeholder 3"/>
          <p:cNvSpPr>
            <a:spLocks noGrp="1"/>
          </p:cNvSpPr>
          <p:nvPr>
            <p:ph type="dt" sz="half" idx="10"/>
          </p:nvPr>
        </p:nvSpPr>
        <p:spPr>
          <a:xfrm>
            <a:off x="117764" y="6431359"/>
            <a:ext cx="2743200" cy="365125"/>
          </a:xfrm>
        </p:spPr>
        <p:txBody>
          <a:bodyPr/>
          <a:lstStyle>
            <a:lvl1pPr>
              <a:defRPr sz="1400" b="1">
                <a:solidFill>
                  <a:schemeClr val="bg1"/>
                </a:solidFill>
                <a:latin typeface="Segoe UI" panose="020B0502040204020203" pitchFamily="34" charset="0"/>
                <a:cs typeface="Segoe UI" panose="020B0502040204020203" pitchFamily="34" charset="0"/>
              </a:defRPr>
            </a:lvl1pPr>
          </a:lstStyle>
          <a:p>
            <a:fld id="{8F24CB84-C55C-4A82-835D-EB9452E1C125}" type="datetime1">
              <a:rPr lang="en-US" smtClean="0"/>
              <a:t>1/14/2026</a:t>
            </a:fld>
            <a:endParaRPr lang="en-US"/>
          </a:p>
        </p:txBody>
      </p:sp>
      <p:sp>
        <p:nvSpPr>
          <p:cNvPr id="22" name="Footer Placeholder 4"/>
          <p:cNvSpPr>
            <a:spLocks noGrp="1"/>
          </p:cNvSpPr>
          <p:nvPr>
            <p:ph type="ftr" sz="quarter" idx="11"/>
          </p:nvPr>
        </p:nvSpPr>
        <p:spPr>
          <a:xfrm>
            <a:off x="4038600" y="6431358"/>
            <a:ext cx="4114800" cy="365125"/>
          </a:xfrm>
        </p:spPr>
        <p:txBody>
          <a:bodyPr/>
          <a:lstStyle>
            <a:lvl1pPr>
              <a:defRPr sz="1400" b="1">
                <a:solidFill>
                  <a:schemeClr val="bg1"/>
                </a:solidFill>
                <a:latin typeface="Segoe UI" panose="020B0502040204020203" pitchFamily="34" charset="0"/>
                <a:cs typeface="Segoe UI" panose="020B0502040204020203" pitchFamily="34" charset="0"/>
              </a:defRPr>
            </a:lvl1pPr>
          </a:lstStyle>
          <a:p>
            <a:endParaRPr lang="en-US"/>
          </a:p>
        </p:txBody>
      </p:sp>
      <p:sp>
        <p:nvSpPr>
          <p:cNvPr id="23" name="Slide Number Placeholder 5"/>
          <p:cNvSpPr>
            <a:spLocks noGrp="1"/>
          </p:cNvSpPr>
          <p:nvPr>
            <p:ph type="sldNum" sz="quarter" idx="12"/>
          </p:nvPr>
        </p:nvSpPr>
        <p:spPr>
          <a:xfrm>
            <a:off x="9331036" y="6437998"/>
            <a:ext cx="2743200" cy="365125"/>
          </a:xfrm>
        </p:spPr>
        <p:txBody>
          <a:bodyPr/>
          <a:lstStyle>
            <a:lvl1pPr>
              <a:defRPr sz="1400" b="1">
                <a:solidFill>
                  <a:schemeClr val="bg1"/>
                </a:solidFill>
                <a:latin typeface="Segoe UI" panose="020B0502040204020203" pitchFamily="34" charset="0"/>
                <a:cs typeface="Segoe UI" panose="020B0502040204020203" pitchFamily="34" charset="0"/>
              </a:defRPr>
            </a:lvl1pPr>
          </a:lstStyle>
          <a:p>
            <a:fld id="{2F95168B-6F19-4F5F-A403-0F4FF873F03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7D63D-6A9B-42CD-9D8E-5DC300BF17C3}" type="datetime1">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5168B-6F19-4F5F-A403-0F4FF873F03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18C9AC3-BD6A-4BFD-8336-FDF096C13F24}" type="datetime1">
              <a:rPr lang="en-US" smtClean="0"/>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95168B-6F19-4F5F-A403-0F4FF873F03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FABCCE-0FBA-4E0A-961B-34B20729B1F6}" type="datetime1">
              <a:rPr lang="en-US" smtClean="0"/>
              <a:t>1/14/2026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95168B-6F19-4F5F-A403-0F4FF873F03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20120EE-664D-4A63-A625-B02F5F88C844}" type="datetime1">
              <a:rPr lang="en-US" smtClean="0"/>
              <a:t>1/14/2026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95168B-6F19-4F5F-A403-0F4FF873F03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E275F6-76BD-4353-A85C-B1AFE2A165B8}" type="datetime1">
              <a:rPr lang="en-US" smtClean="0"/>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95168B-6F19-4F5F-A403-0F4FF873F03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0831EF-DA2F-46BF-A9AA-2AA4A96036D1}" type="datetime1">
              <a:rPr lang="en-US" smtClean="0"/>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95168B-6F19-4F5F-A403-0F4FF873F03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BBA487-2DB2-4536-9613-92FEFDA75BB2}" type="datetime1">
              <a:rPr lang="en-US" smtClean="0"/>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95168B-6F19-4F5F-A403-0F4FF873F036}"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2E76B5-9EF0-4B8C-B720-3CAB28604C83}" type="datetime1">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5168B-6F19-4F5F-A403-0F4FF873F036}"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7CA597-0E3B-4207-8C9B-86516EB3BB2E}" type="datetime1">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5168B-6F19-4F5F-A403-0F4FF873F03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66C06D-D1DC-4E43-9597-6095090A36FA}" type="datetime1">
              <a:rPr lang="en-US" smtClean="0"/>
              <a:t>1/14/2026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95168B-6F19-4F5F-A403-0F4FF873F03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68719" y="2237505"/>
            <a:ext cx="11416227" cy="1938992"/>
          </a:xfrm>
          <a:prstGeom prst="rect">
            <a:avLst/>
          </a:prstGeom>
          <a:noFill/>
        </p:spPr>
        <p:txBody>
          <a:bodyPr wrap="square" lIns="91440" tIns="45720" rIns="91440" bIns="45720" rtlCol="0" anchor="t">
            <a:spAutoFit/>
          </a:bodyPr>
          <a:lstStyle/>
          <a:p>
            <a:pPr marL="720725" algn="ctr"/>
            <a:r>
              <a:rPr lang="en-US" sz="4000" b="1" dirty="0" err="1">
                <a:solidFill>
                  <a:srgbClr val="254B92"/>
                </a:solidFill>
                <a:latin typeface="Segoe UI" panose="020B0502040204020203" pitchFamily="34" charset="0"/>
                <a:cs typeface="Segoe UI" panose="020B0502040204020203" pitchFamily="34" charset="0"/>
              </a:rPr>
              <a:t>Giám</a:t>
            </a:r>
            <a:r>
              <a:rPr lang="en-US" sz="4000" b="1" dirty="0">
                <a:solidFill>
                  <a:srgbClr val="254B92"/>
                </a:solidFill>
                <a:latin typeface="Segoe UI" panose="020B0502040204020203" pitchFamily="34" charset="0"/>
                <a:cs typeface="Segoe UI" panose="020B0502040204020203" pitchFamily="34" charset="0"/>
              </a:rPr>
              <a:t> </a:t>
            </a:r>
            <a:r>
              <a:rPr lang="en-US" sz="4000" b="1" dirty="0" err="1">
                <a:solidFill>
                  <a:srgbClr val="254B92"/>
                </a:solidFill>
                <a:latin typeface="Segoe UI" panose="020B0502040204020203" pitchFamily="34" charset="0"/>
                <a:cs typeface="Segoe UI" panose="020B0502040204020203" pitchFamily="34" charset="0"/>
              </a:rPr>
              <a:t>sát</a:t>
            </a:r>
            <a:r>
              <a:rPr lang="en-US" sz="4000" b="1" dirty="0">
                <a:solidFill>
                  <a:srgbClr val="254B92"/>
                </a:solidFill>
                <a:latin typeface="Segoe UI" panose="020B0502040204020203" pitchFamily="34" charset="0"/>
                <a:cs typeface="Segoe UI" panose="020B0502040204020203" pitchFamily="34" charset="0"/>
              </a:rPr>
              <a:t> ECG </a:t>
            </a:r>
            <a:r>
              <a:rPr lang="en-US" sz="4000" b="1" dirty="0" err="1">
                <a:solidFill>
                  <a:srgbClr val="254B92"/>
                </a:solidFill>
                <a:latin typeface="Segoe UI" panose="020B0502040204020203" pitchFamily="34" charset="0"/>
                <a:cs typeface="Segoe UI" panose="020B0502040204020203" pitchFamily="34" charset="0"/>
              </a:rPr>
              <a:t>dựa</a:t>
            </a:r>
            <a:endParaRPr lang="en-US" sz="4000" b="1" dirty="0">
              <a:solidFill>
                <a:srgbClr val="254B92"/>
              </a:solidFill>
              <a:latin typeface="Segoe UI" panose="020B0502040204020203" pitchFamily="34" charset="0"/>
              <a:cs typeface="Segoe UI" panose="020B0502040204020203" pitchFamily="34" charset="0"/>
            </a:endParaRPr>
          </a:p>
          <a:p>
            <a:pPr marL="720725" algn="ctr"/>
            <a:r>
              <a:rPr lang="en-US" sz="4000" b="1" dirty="0" err="1">
                <a:solidFill>
                  <a:srgbClr val="254B92"/>
                </a:solidFill>
                <a:latin typeface="Segoe UI" panose="020B0502040204020203" pitchFamily="34" charset="0"/>
                <a:cs typeface="Segoe UI" panose="020B0502040204020203" pitchFamily="34" charset="0"/>
              </a:rPr>
              <a:t>trên</a:t>
            </a:r>
            <a:r>
              <a:rPr lang="en-US" sz="4000" b="1" dirty="0">
                <a:solidFill>
                  <a:srgbClr val="254B92"/>
                </a:solidFill>
                <a:latin typeface="Segoe UI" panose="020B0502040204020203" pitchFamily="34" charset="0"/>
                <a:cs typeface="Segoe UI" panose="020B0502040204020203" pitchFamily="34" charset="0"/>
              </a:rPr>
              <a:t> IoT </a:t>
            </a:r>
            <a:r>
              <a:rPr lang="en-US" sz="4000" b="1" dirty="0" err="1">
                <a:solidFill>
                  <a:srgbClr val="254B92"/>
                </a:solidFill>
                <a:latin typeface="Segoe UI" panose="020B0502040204020203" pitchFamily="34" charset="0"/>
                <a:cs typeface="Segoe UI" panose="020B0502040204020203" pitchFamily="34" charset="0"/>
              </a:rPr>
              <a:t>với</a:t>
            </a:r>
            <a:r>
              <a:rPr lang="en-US" sz="4000" b="1" dirty="0">
                <a:solidFill>
                  <a:srgbClr val="254B92"/>
                </a:solidFill>
                <a:latin typeface="Segoe UI" panose="020B0502040204020203" pitchFamily="34" charset="0"/>
                <a:cs typeface="Segoe UI" panose="020B0502040204020203" pitchFamily="34" charset="0"/>
              </a:rPr>
              <a:t> </a:t>
            </a:r>
            <a:r>
              <a:rPr lang="en-US" sz="4000" b="1" dirty="0" err="1">
                <a:solidFill>
                  <a:srgbClr val="254B92"/>
                </a:solidFill>
                <a:latin typeface="Segoe UI" panose="020B0502040204020203" pitchFamily="34" charset="0"/>
                <a:cs typeface="Segoe UI" panose="020B0502040204020203" pitchFamily="34" charset="0"/>
              </a:rPr>
              <a:t>cảm</a:t>
            </a:r>
            <a:r>
              <a:rPr lang="en-US" sz="4000" b="1" dirty="0">
                <a:solidFill>
                  <a:srgbClr val="254B92"/>
                </a:solidFill>
                <a:latin typeface="Segoe UI" panose="020B0502040204020203" pitchFamily="34" charset="0"/>
                <a:cs typeface="Segoe UI" panose="020B0502040204020203" pitchFamily="34" charset="0"/>
              </a:rPr>
              <a:t> </a:t>
            </a:r>
            <a:r>
              <a:rPr lang="en-US" sz="4000" b="1" dirty="0" err="1">
                <a:solidFill>
                  <a:srgbClr val="254B92"/>
                </a:solidFill>
                <a:latin typeface="Segoe UI" panose="020B0502040204020203" pitchFamily="34" charset="0"/>
                <a:cs typeface="Segoe UI" panose="020B0502040204020203" pitchFamily="34" charset="0"/>
              </a:rPr>
              <a:t>biến</a:t>
            </a:r>
            <a:endParaRPr lang="en-US" sz="4000" b="1" dirty="0">
              <a:solidFill>
                <a:srgbClr val="254B92"/>
              </a:solidFill>
              <a:latin typeface="Segoe UI" panose="020B0502040204020203" pitchFamily="34" charset="0"/>
              <a:cs typeface="Segoe UI" panose="020B0502040204020203" pitchFamily="34" charset="0"/>
            </a:endParaRPr>
          </a:p>
          <a:p>
            <a:pPr marL="720725" algn="ctr"/>
            <a:r>
              <a:rPr lang="en-US" sz="4000" b="1" dirty="0">
                <a:solidFill>
                  <a:srgbClr val="254B92"/>
                </a:solidFill>
                <a:latin typeface="Segoe UI" panose="020B0502040204020203" pitchFamily="34" charset="0"/>
                <a:cs typeface="Segoe UI" panose="020B0502040204020203" pitchFamily="34" charset="0"/>
              </a:rPr>
              <a:t>ECG AD8232 &amp; ESP32</a:t>
            </a:r>
            <a:endParaRPr lang="en-US" sz="6000" b="1" dirty="0">
              <a:solidFill>
                <a:srgbClr val="254B92"/>
              </a:solidFill>
              <a:latin typeface="Segoe UI" panose="020B0502040204020203" pitchFamily="34" charset="0"/>
              <a:cs typeface="Segoe UI" panose="020B0502040204020203" pitchFamily="34" charset="0"/>
            </a:endParaRPr>
          </a:p>
        </p:txBody>
      </p:sp>
      <p:sp>
        <p:nvSpPr>
          <p:cNvPr id="16" name="TextBox 15"/>
          <p:cNvSpPr txBox="1"/>
          <p:nvPr/>
        </p:nvSpPr>
        <p:spPr>
          <a:xfrm>
            <a:off x="2494384" y="5078963"/>
            <a:ext cx="7427167" cy="400110"/>
          </a:xfrm>
          <a:prstGeom prst="rect">
            <a:avLst/>
          </a:prstGeom>
          <a:noFill/>
        </p:spPr>
        <p:txBody>
          <a:bodyPr wrap="square" rtlCol="0">
            <a:spAutoFit/>
          </a:bodyPr>
          <a:lstStyle/>
          <a:p>
            <a:pPr algn="ctr"/>
            <a:r>
              <a:rPr lang="vi-VN" sz="2000" dirty="0">
                <a:solidFill>
                  <a:srgbClr val="254B92"/>
                </a:solidFill>
                <a:latin typeface="Segoe UI" panose="020B0502040204020203" pitchFamily="34" charset="0"/>
                <a:cs typeface="Segoe UI" panose="020B0502040204020203" pitchFamily="34" charset="0"/>
              </a:rPr>
              <a:t>Thành phố Hồ Chí Minh</a:t>
            </a:r>
            <a:r>
              <a:rPr lang="en-US" sz="2000" dirty="0">
                <a:solidFill>
                  <a:srgbClr val="254B92"/>
                </a:solidFill>
                <a:effectLst/>
                <a:latin typeface="Segoe UI" panose="020B0502040204020203" pitchFamily="34" charset="0"/>
                <a:cs typeface="Segoe UI" panose="020B0502040204020203" pitchFamily="34" charset="0"/>
              </a:rPr>
              <a:t>, </a:t>
            </a:r>
            <a:r>
              <a:rPr lang="vi-VN" sz="2000" dirty="0">
                <a:solidFill>
                  <a:srgbClr val="254B92"/>
                </a:solidFill>
                <a:latin typeface="Segoe UI" panose="020B0502040204020203" pitchFamily="34" charset="0"/>
                <a:cs typeface="Segoe UI" panose="020B0502040204020203" pitchFamily="34" charset="0"/>
              </a:rPr>
              <a:t>5 tháng 12</a:t>
            </a:r>
            <a:r>
              <a:rPr lang="en-US" sz="2000" dirty="0">
                <a:solidFill>
                  <a:srgbClr val="254B92"/>
                </a:solidFill>
                <a:effectLst/>
                <a:latin typeface="Segoe UI" panose="020B0502040204020203" pitchFamily="34" charset="0"/>
                <a:cs typeface="Segoe UI" panose="020B0502040204020203" pitchFamily="34" charset="0"/>
              </a:rPr>
              <a:t>, 2024</a:t>
            </a:r>
            <a:endParaRPr lang="en-US" sz="2000" dirty="0">
              <a:solidFill>
                <a:srgbClr val="254B92"/>
              </a:solidFill>
              <a:latin typeface="Segoe UI" panose="020B0502040204020203" pitchFamily="34" charset="0"/>
              <a:cs typeface="Segoe UI"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356350"/>
            <a:ext cx="2743200" cy="365125"/>
          </a:xfrm>
        </p:spPr>
        <p:txBody>
          <a:bodyPr/>
          <a:lstStyle/>
          <a:p>
            <a:fld id="{8F24CB84-C55C-4A82-835D-EB9452E1C125}" type="datetime1">
              <a:rPr lang="en-US" smtClean="0"/>
              <a:t>1/14/2026</a:t>
            </a:fld>
            <a:endParaRPr lang="en-US"/>
          </a:p>
        </p:txBody>
      </p:sp>
      <p:sp>
        <p:nvSpPr>
          <p:cNvPr id="5" name="Slide Number Placeholder 4"/>
          <p:cNvSpPr>
            <a:spLocks noGrp="1"/>
          </p:cNvSpPr>
          <p:nvPr>
            <p:ph type="sldNum" sz="quarter" idx="12"/>
          </p:nvPr>
        </p:nvSpPr>
        <p:spPr>
          <a:xfrm>
            <a:off x="9448800" y="6356350"/>
            <a:ext cx="2743200" cy="365125"/>
          </a:xfrm>
        </p:spPr>
        <p:txBody>
          <a:bodyPr/>
          <a:lstStyle/>
          <a:p>
            <a:fld id="{2F95168B-6F19-4F5F-A403-0F4FF873F036}" type="slidenum">
              <a:rPr lang="en-US" smtClean="0"/>
              <a:t>2</a:t>
            </a:fld>
            <a:r>
              <a:rPr lang="en-US"/>
              <a:t>/9</a:t>
            </a:r>
          </a:p>
        </p:txBody>
      </p:sp>
      <p:sp>
        <p:nvSpPr>
          <p:cNvPr id="6" name="TextBox 5"/>
          <p:cNvSpPr txBox="1"/>
          <p:nvPr/>
        </p:nvSpPr>
        <p:spPr>
          <a:xfrm>
            <a:off x="1530220" y="2767280"/>
            <a:ext cx="767080" cy="1322070"/>
          </a:xfrm>
          <a:prstGeom prst="rect">
            <a:avLst/>
          </a:prstGeom>
          <a:noFill/>
        </p:spPr>
        <p:txBody>
          <a:bodyPr wrap="none" rtlCol="0">
            <a:spAutoFit/>
          </a:bodyPr>
          <a:lstStyle/>
          <a:p>
            <a:r>
              <a:rPr lang="en-US" sz="8000" b="1">
                <a:solidFill>
                  <a:schemeClr val="bg1"/>
                </a:solidFill>
                <a:latin typeface="Segoe UI" panose="020B0502040204020203" pitchFamily="34" charset="0"/>
                <a:cs typeface="Segoe UI" panose="020B0502040204020203" pitchFamily="34" charset="0"/>
              </a:rPr>
              <a:t>1</a:t>
            </a:r>
          </a:p>
        </p:txBody>
      </p:sp>
      <p:sp>
        <p:nvSpPr>
          <p:cNvPr id="7" name="TextBox 6"/>
          <p:cNvSpPr txBox="1"/>
          <p:nvPr/>
        </p:nvSpPr>
        <p:spPr>
          <a:xfrm>
            <a:off x="3303082" y="2921167"/>
            <a:ext cx="7477760" cy="1014730"/>
          </a:xfrm>
          <a:prstGeom prst="rect">
            <a:avLst/>
          </a:prstGeom>
          <a:noFill/>
        </p:spPr>
        <p:txBody>
          <a:bodyPr wrap="square" lIns="91440" tIns="45720" rIns="91440" bIns="45720" rtlCol="0" anchor="t">
            <a:spAutoFit/>
          </a:bodyPr>
          <a:lstStyle/>
          <a:p>
            <a:pPr algn="ctr"/>
            <a:r>
              <a:rPr lang="vi-VN" sz="6000" b="1" dirty="0">
                <a:solidFill>
                  <a:schemeClr val="bg1"/>
                </a:solidFill>
                <a:latin typeface="Segoe UI" panose="020B0502040204020203" pitchFamily="34" charset="0"/>
                <a:cs typeface="Segoe UI" panose="020B0502040204020203" pitchFamily="34" charset="0"/>
              </a:rPr>
              <a:t>Qu</a:t>
            </a:r>
            <a:r>
              <a:rPr lang="en-US" altLang="vi-VN" sz="6000" b="1" dirty="0">
                <a:solidFill>
                  <a:schemeClr val="bg1"/>
                </a:solidFill>
                <a:latin typeface="Segoe UI" panose="020B0502040204020203" pitchFamily="34" charset="0"/>
                <a:cs typeface="Segoe UI" panose="020B0502040204020203" pitchFamily="34" charset="0"/>
              </a:rPr>
              <a:t>y</a:t>
            </a:r>
            <a:r>
              <a:rPr lang="vi-VN" sz="6000" b="1" dirty="0">
                <a:solidFill>
                  <a:schemeClr val="bg1"/>
                </a:solidFill>
                <a:latin typeface="Segoe UI" panose="020B0502040204020203" pitchFamily="34" charset="0"/>
                <a:cs typeface="Segoe UI" panose="020B0502040204020203" pitchFamily="34" charset="0"/>
              </a:rPr>
              <a:t> trình thực hiện</a:t>
            </a:r>
            <a:endParaRPr lang="en-US" sz="6000" b="1" dirty="0">
              <a:solidFill>
                <a:schemeClr val="bg1"/>
              </a:solidFill>
              <a:latin typeface="Segoe UI" panose="020B0502040204020203" pitchFamily="34" charset="0"/>
              <a:cs typeface="Segoe UI" panose="020B050204020402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Segoe UI" panose="020B0502040204020203" pitchFamily="34" charset="0"/>
                <a:cs typeface="Segoe UI" panose="020B0502040204020203" pitchFamily="34" charset="0"/>
              </a:rPr>
              <a:t>Sơ đồ mạch tổng quát</a:t>
            </a:r>
          </a:p>
        </p:txBody>
      </p:sp>
      <p:sp>
        <p:nvSpPr>
          <p:cNvPr id="4" name="Date Placeholder 3"/>
          <p:cNvSpPr>
            <a:spLocks noGrp="1"/>
          </p:cNvSpPr>
          <p:nvPr>
            <p:ph type="dt" sz="half" idx="10"/>
          </p:nvPr>
        </p:nvSpPr>
        <p:spPr/>
        <p:txBody>
          <a:bodyPr/>
          <a:lstStyle/>
          <a:p>
            <a:fld id="{8F24CB84-C55C-4A82-835D-EB9452E1C125}" type="datetime1">
              <a:rPr lang="en-US" smtClean="0"/>
              <a:t>1/14/2026</a:t>
            </a:fld>
            <a:endParaRPr lang="en-US"/>
          </a:p>
        </p:txBody>
      </p:sp>
      <p:sp>
        <p:nvSpPr>
          <p:cNvPr id="5" name="Slide Number Placeholder 4"/>
          <p:cNvSpPr>
            <a:spLocks noGrp="1"/>
          </p:cNvSpPr>
          <p:nvPr>
            <p:ph type="sldNum" sz="quarter" idx="12"/>
          </p:nvPr>
        </p:nvSpPr>
        <p:spPr/>
        <p:txBody>
          <a:bodyPr/>
          <a:lstStyle/>
          <a:p>
            <a:fld id="{2F95168B-6F19-4F5F-A403-0F4FF873F036}" type="slidenum">
              <a:rPr lang="en-US" smtClean="0"/>
              <a:t>3</a:t>
            </a:fld>
            <a:r>
              <a:rPr lang="en-US"/>
              <a:t>/9</a:t>
            </a:r>
          </a:p>
        </p:txBody>
      </p:sp>
      <p:sp>
        <p:nvSpPr>
          <p:cNvPr id="14" name="TextBox 13"/>
          <p:cNvSpPr txBox="1"/>
          <p:nvPr/>
        </p:nvSpPr>
        <p:spPr>
          <a:xfrm>
            <a:off x="-1379973" y="5252909"/>
            <a:ext cx="8894156" cy="369332"/>
          </a:xfrm>
          <a:prstGeom prst="rect">
            <a:avLst/>
          </a:prstGeom>
          <a:noFill/>
        </p:spPr>
        <p:txBody>
          <a:bodyPr wrap="square" rtlCol="0">
            <a:spAutoFit/>
          </a:bodyPr>
          <a:lstStyle/>
          <a:p>
            <a:pPr algn="ctr"/>
            <a:r>
              <a:rPr lang="vi-VN" dirty="0">
                <a:latin typeface="Segoe UI" panose="020B0502040204020203" pitchFamily="34" charset="0"/>
                <a:cs typeface="Segoe UI" panose="020B0502040204020203" pitchFamily="34" charset="0"/>
              </a:rPr>
              <a:t>Hình</a:t>
            </a:r>
            <a:r>
              <a:rPr lang="en-US" dirty="0">
                <a:latin typeface="Segoe UI" panose="020B0502040204020203" pitchFamily="34" charset="0"/>
                <a:cs typeface="Segoe UI" panose="020B0502040204020203" pitchFamily="34" charset="0"/>
              </a:rPr>
              <a:t> 1.1: </a:t>
            </a:r>
            <a:r>
              <a:rPr lang="vi-VN" dirty="0">
                <a:latin typeface="Segoe UI" panose="020B0502040204020203" pitchFamily="34" charset="0"/>
                <a:cs typeface="Segoe UI" panose="020B0502040204020203" pitchFamily="34" charset="0"/>
              </a:rPr>
              <a:t>Sơ đồ sử dụng AD620AN</a:t>
            </a:r>
            <a:endParaRPr lang="en-US" dirty="0">
              <a:latin typeface="Segoe UI" panose="020B0502040204020203" pitchFamily="34" charset="0"/>
              <a:cs typeface="Segoe UI" panose="020B0502040204020203" pitchFamily="34" charset="0"/>
            </a:endParaRPr>
          </a:p>
        </p:txBody>
      </p:sp>
      <p:sp>
        <p:nvSpPr>
          <p:cNvPr id="17" name="TextBox 16"/>
          <p:cNvSpPr txBox="1"/>
          <p:nvPr/>
        </p:nvSpPr>
        <p:spPr>
          <a:xfrm>
            <a:off x="7144103" y="5168713"/>
            <a:ext cx="3605565" cy="646331"/>
          </a:xfrm>
          <a:prstGeom prst="rect">
            <a:avLst/>
          </a:prstGeom>
          <a:noFill/>
        </p:spPr>
        <p:txBody>
          <a:bodyPr wrap="square" rtlCol="0">
            <a:spAutoFit/>
          </a:bodyPr>
          <a:lstStyle/>
          <a:p>
            <a:pPr algn="ctr"/>
            <a:r>
              <a:rPr lang="vi-VN" dirty="0">
                <a:latin typeface="Segoe UI" panose="020B0502040204020203" pitchFamily="34" charset="0"/>
                <a:cs typeface="Segoe UI" panose="020B0502040204020203" pitchFamily="34" charset="0"/>
              </a:rPr>
              <a:t>Hình</a:t>
            </a:r>
            <a:r>
              <a:rPr lang="en-US" dirty="0">
                <a:latin typeface="Segoe UI" panose="020B0502040204020203" pitchFamily="34" charset="0"/>
                <a:cs typeface="Segoe UI" panose="020B0502040204020203" pitchFamily="34" charset="0"/>
              </a:rPr>
              <a:t> 1.2: </a:t>
            </a:r>
            <a:r>
              <a:rPr lang="vi-VN" dirty="0">
                <a:latin typeface="Segoe UI" panose="020B0502040204020203" pitchFamily="34" charset="0"/>
                <a:cs typeface="Segoe UI" panose="020B0502040204020203" pitchFamily="34" charset="0"/>
              </a:rPr>
              <a:t>sơ đồ nối chân ESP32 và AD8232</a:t>
            </a:r>
            <a:endParaRPr lang="en-US" dirty="0">
              <a:latin typeface="Segoe UI" panose="020B0502040204020203" pitchFamily="34" charset="0"/>
              <a:cs typeface="Segoe UI" panose="020B0502040204020203"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2660" y="1705046"/>
            <a:ext cx="5018458" cy="3346974"/>
          </a:xfrm>
          <a:prstGeom prst="rect">
            <a:avLst/>
          </a:prstGeom>
        </p:spPr>
      </p:pic>
      <p:pic>
        <p:nvPicPr>
          <p:cNvPr id="11" name="Picture 10"/>
          <p:cNvPicPr>
            <a:picLocks noChangeAspect="1"/>
          </p:cNvPicPr>
          <p:nvPr/>
        </p:nvPicPr>
        <p:blipFill>
          <a:blip r:embed="rId4"/>
          <a:stretch>
            <a:fillRect/>
          </a:stretch>
        </p:blipFill>
        <p:spPr>
          <a:xfrm>
            <a:off x="6236335" y="1784985"/>
            <a:ext cx="5241925" cy="29743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38021"/>
            <a:ext cx="10515600" cy="575252"/>
          </a:xfrm>
        </p:spPr>
        <p:txBody>
          <a:bodyPr>
            <a:normAutofit fontScale="90000"/>
          </a:bodyPr>
          <a:lstStyle/>
          <a:p>
            <a:r>
              <a:rPr lang="vi-VN" b="1" dirty="0">
                <a:latin typeface="Segoe UI" panose="020B0502040204020203" pitchFamily="34" charset="0"/>
                <a:cs typeface="Segoe UI" panose="020B0502040204020203" pitchFamily="34" charset="0"/>
              </a:rPr>
              <a:t>Thông thấp bậc 2</a:t>
            </a:r>
            <a:endParaRPr lang="en-US" sz="4400" b="1" dirty="0">
              <a:solidFill>
                <a:schemeClr val="bg1"/>
              </a:solidFill>
              <a:latin typeface="Segoe UI" panose="020B0502040204020203" pitchFamily="34" charset="0"/>
              <a:cs typeface="Segoe UI" panose="020B0502040204020203" pitchFamily="34" charset="0"/>
            </a:endParaRPr>
          </a:p>
        </p:txBody>
      </p:sp>
      <p:sp>
        <p:nvSpPr>
          <p:cNvPr id="4" name="Date Placeholder 3"/>
          <p:cNvSpPr>
            <a:spLocks noGrp="1"/>
          </p:cNvSpPr>
          <p:nvPr>
            <p:ph type="dt" sz="half" idx="10"/>
          </p:nvPr>
        </p:nvSpPr>
        <p:spPr/>
        <p:txBody>
          <a:bodyPr/>
          <a:lstStyle/>
          <a:p>
            <a:fld id="{8F24CB84-C55C-4A82-835D-EB9452E1C125}" type="datetime1">
              <a:rPr lang="en-US" smtClean="0"/>
              <a:t>1/14/2026</a:t>
            </a:fld>
            <a:endParaRPr lang="en-US"/>
          </a:p>
        </p:txBody>
      </p:sp>
      <p:sp>
        <p:nvSpPr>
          <p:cNvPr id="5" name="Slide Number Placeholder 4"/>
          <p:cNvSpPr>
            <a:spLocks noGrp="1"/>
          </p:cNvSpPr>
          <p:nvPr>
            <p:ph type="sldNum" sz="quarter" idx="12"/>
          </p:nvPr>
        </p:nvSpPr>
        <p:spPr/>
        <p:txBody>
          <a:bodyPr/>
          <a:lstStyle/>
          <a:p>
            <a:fld id="{2F95168B-6F19-4F5F-A403-0F4FF873F036}" type="slidenum">
              <a:rPr lang="en-US" smtClean="0"/>
              <a:t>4</a:t>
            </a:fld>
            <a:r>
              <a:rPr lang="en-US"/>
              <a:t>/9</a:t>
            </a:r>
          </a:p>
        </p:txBody>
      </p:sp>
      <p:pic>
        <p:nvPicPr>
          <p:cNvPr id="6" name="Picture 5"/>
          <p:cNvPicPr>
            <a:picLocks noChangeAspect="1"/>
          </p:cNvPicPr>
          <p:nvPr/>
        </p:nvPicPr>
        <p:blipFill>
          <a:blip r:embed="rId2"/>
          <a:stretch>
            <a:fillRect/>
          </a:stretch>
        </p:blipFill>
        <p:spPr>
          <a:xfrm>
            <a:off x="5402580" y="1370330"/>
            <a:ext cx="6776720" cy="3845560"/>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788324" y="2563594"/>
                <a:ext cx="4409440" cy="1955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400" b="0" i="1" smtClean="0">
                          <a:latin typeface="Cambria Math" panose="02040503050406030204" pitchFamily="18" charset="0"/>
                        </a:rPr>
                        <m:t>𝑓𝑐</m:t>
                      </m:r>
                      <m:r>
                        <a:rPr lang="vi-VN" sz="2400" b="0" i="1" smtClean="0">
                          <a:latin typeface="Cambria Math" panose="02040503050406030204" pitchFamily="18" charset="0"/>
                        </a:rPr>
                        <m:t>=</m:t>
                      </m:r>
                      <m:f>
                        <m:fPr>
                          <m:ctrlPr>
                            <a:rPr lang="vi-VN" sz="2400" b="0" i="1" smtClean="0">
                              <a:latin typeface="Cambria Math" panose="02040503050406030204" pitchFamily="18" charset="0"/>
                            </a:rPr>
                          </m:ctrlPr>
                        </m:fPr>
                        <m:num>
                          <m:r>
                            <a:rPr lang="vi-VN" sz="2400" b="0" i="1" smtClean="0">
                              <a:latin typeface="Cambria Math" panose="02040503050406030204" pitchFamily="18" charset="0"/>
                            </a:rPr>
                            <m:t>1</m:t>
                          </m:r>
                        </m:num>
                        <m:den>
                          <m:r>
                            <a:rPr lang="vi-VN" sz="2400" b="0" i="1" smtClean="0">
                              <a:latin typeface="Cambria Math" panose="02040503050406030204" pitchFamily="18" charset="0"/>
                            </a:rPr>
                            <m:t>2</m:t>
                          </m:r>
                          <m:r>
                            <a:rPr lang="vi-VN" sz="2400" b="0" i="1" smtClean="0">
                              <a:latin typeface="Cambria Math" panose="02040503050406030204" pitchFamily="18" charset="0"/>
                              <a:ea typeface="Cambria Math" panose="02040503050406030204" pitchFamily="18" charset="0"/>
                            </a:rPr>
                            <m:t>𝜋</m:t>
                          </m:r>
                          <m:rad>
                            <m:radPr>
                              <m:degHide m:val="on"/>
                              <m:ctrlPr>
                                <a:rPr lang="vi-VN" sz="2400" b="0" i="1" smtClean="0">
                                  <a:latin typeface="Cambria Math" panose="02040503050406030204" pitchFamily="18" charset="0"/>
                                </a:rPr>
                              </m:ctrlPr>
                            </m:radPr>
                            <m:deg/>
                            <m:e>
                              <m:r>
                                <a:rPr lang="vi-VN" sz="2400" b="0" i="1" smtClean="0">
                                  <a:latin typeface="Cambria Math" panose="02040503050406030204" pitchFamily="18" charset="0"/>
                                </a:rPr>
                                <m:t>𝑅</m:t>
                              </m:r>
                              <m:r>
                                <a:rPr lang="vi-VN" sz="2400" b="0" i="1" smtClean="0">
                                  <a:latin typeface="Cambria Math" panose="02040503050406030204" pitchFamily="18" charset="0"/>
                                </a:rPr>
                                <m:t>1</m:t>
                              </m:r>
                              <m:r>
                                <a:rPr lang="vi-VN" sz="2400" b="0" i="1" smtClean="0">
                                  <a:latin typeface="Cambria Math" panose="02040503050406030204" pitchFamily="18" charset="0"/>
                                </a:rPr>
                                <m:t>𝐶</m:t>
                              </m:r>
                              <m:r>
                                <a:rPr lang="vi-VN" sz="2400" b="0" i="1" smtClean="0">
                                  <a:latin typeface="Cambria Math" panose="02040503050406030204" pitchFamily="18" charset="0"/>
                                </a:rPr>
                                <m:t>1</m:t>
                              </m:r>
                              <m:r>
                                <a:rPr lang="vi-VN" sz="2400" b="0" i="1" smtClean="0">
                                  <a:latin typeface="Cambria Math" panose="02040503050406030204" pitchFamily="18" charset="0"/>
                                </a:rPr>
                                <m:t>𝑅</m:t>
                              </m:r>
                              <m:r>
                                <a:rPr lang="vi-VN" sz="2400" b="0" i="1" smtClean="0">
                                  <a:latin typeface="Cambria Math" panose="02040503050406030204" pitchFamily="18" charset="0"/>
                                </a:rPr>
                                <m:t>2</m:t>
                              </m:r>
                              <m:r>
                                <a:rPr lang="vi-VN" sz="2400" b="0" i="1" smtClean="0">
                                  <a:latin typeface="Cambria Math" panose="02040503050406030204" pitchFamily="18" charset="0"/>
                                </a:rPr>
                                <m:t>𝐶</m:t>
                              </m:r>
                              <m:r>
                                <a:rPr lang="vi-VN" sz="2400" b="0" i="1" smtClean="0">
                                  <a:latin typeface="Cambria Math" panose="02040503050406030204" pitchFamily="18" charset="0"/>
                                </a:rPr>
                                <m:t>2</m:t>
                              </m:r>
                            </m:e>
                          </m:rad>
                        </m:den>
                      </m:f>
                      <m:r>
                        <a:rPr lang="vi-VN" sz="2400" b="0" i="0" smtClean="0">
                          <a:latin typeface="Cambria Math" panose="02040503050406030204" pitchFamily="18" charset="0"/>
                        </a:rPr>
                        <m:t>=</m:t>
                      </m:r>
                      <m:r>
                        <a:rPr lang="vi-VN" sz="2400" b="0" i="0" smtClean="0">
                          <a:latin typeface="Cambria Math" panose="02040503050406030204" pitchFamily="18" charset="0"/>
                        </a:rPr>
                        <m:t>159</m:t>
                      </m:r>
                      <m:r>
                        <m:rPr>
                          <m:sty m:val="p"/>
                        </m:rPr>
                        <a:rPr lang="vi-VN" sz="2400" b="0" i="0" smtClean="0">
                          <a:latin typeface="Cambria Math" panose="02040503050406030204" pitchFamily="18" charset="0"/>
                        </a:rPr>
                        <m:t>Hz</m:t>
                      </m:r>
                    </m:oMath>
                  </m:oMathPara>
                </a14:m>
                <a:endParaRPr lang="vi-VN" sz="2400" b="0" dirty="0">
                  <a:latin typeface="Segoe UI" panose="020B0502040204020203" pitchFamily="34" charset="0"/>
                  <a:cs typeface="Segoe UI" panose="020B0502040204020203" pitchFamily="34" charset="0"/>
                </a:endParaRPr>
              </a:p>
              <a:p>
                <a:endParaRPr lang="vi-VN" sz="2400" dirty="0">
                  <a:latin typeface="Segoe UI" panose="020B0502040204020203" pitchFamily="34" charset="0"/>
                  <a:cs typeface="Segoe UI" panose="020B0502040204020203" pitchFamily="34" charset="0"/>
                </a:endParaRPr>
              </a:p>
              <a:p>
                <a:r>
                  <a:rPr lang="vi-VN" sz="2400" dirty="0">
                    <a:latin typeface="Segoe UI" panose="020B0502040204020203" pitchFamily="34" charset="0"/>
                    <a:cs typeface="Segoe UI" panose="020B0502040204020203" pitchFamily="34" charset="0"/>
                  </a:rPr>
                  <a:t>Chọn C1</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C2</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10uF</a:t>
                </a:r>
              </a:p>
              <a:p>
                <a:pPr marL="285750" indent="-285750">
                  <a:buFont typeface="Symbol" panose="05050102010706020507" pitchFamily="18" charset="2"/>
                  <a:buChar char="Þ"/>
                </a:pPr>
                <a:r>
                  <a:rPr lang="vi-VN" sz="2400" dirty="0">
                    <a:latin typeface="Segoe UI" panose="020B0502040204020203" pitchFamily="34" charset="0"/>
                    <a:cs typeface="Segoe UI" panose="020B0502040204020203" pitchFamily="34" charset="0"/>
                  </a:rPr>
                  <a:t>R1=</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R2</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100Hz</a:t>
                </a:r>
              </a:p>
            </p:txBody>
          </p:sp>
        </mc:Choice>
        <mc:Fallback xmlns="">
          <p:sp>
            <p:nvSpPr>
              <p:cNvPr id="7" name="TextBox 6"/>
              <p:cNvSpPr txBox="1">
                <a:spLocks noRot="1" noChangeAspect="1" noMove="1" noResize="1" noEditPoints="1" noAdjustHandles="1" noChangeArrowheads="1" noChangeShapeType="1" noTextEdit="1"/>
              </p:cNvSpPr>
              <p:nvPr/>
            </p:nvSpPr>
            <p:spPr>
              <a:xfrm>
                <a:off x="788324" y="2563594"/>
                <a:ext cx="4409440" cy="1955165"/>
              </a:xfrm>
              <a:prstGeom prst="rect">
                <a:avLst/>
              </a:prstGeom>
              <a:blipFill>
                <a:blip r:embed="rId3"/>
                <a:stretch>
                  <a:fillRect l="-2210" b="-7187"/>
                </a:stretch>
              </a:blipFill>
            </p:spPr>
            <p:txBody>
              <a:bodyPr/>
              <a:lstStyle/>
              <a:p>
                <a:r>
                  <a:rPr lang="en-US">
                    <a:noFill/>
                  </a:rPr>
                  <a:t> </a:t>
                </a:r>
              </a:p>
            </p:txBody>
          </p:sp>
        </mc:Fallback>
      </mc:AlternateContent>
      <p:sp>
        <p:nvSpPr>
          <p:cNvPr id="8" name="TextBox 7"/>
          <p:cNvSpPr txBox="1"/>
          <p:nvPr/>
        </p:nvSpPr>
        <p:spPr>
          <a:xfrm>
            <a:off x="5956935" y="5215598"/>
            <a:ext cx="6303356" cy="368300"/>
          </a:xfrm>
          <a:prstGeom prst="rect">
            <a:avLst/>
          </a:prstGeom>
          <a:noFill/>
        </p:spPr>
        <p:txBody>
          <a:bodyPr wrap="square" rtlCol="0">
            <a:spAutoFit/>
          </a:bodyPr>
          <a:lstStyle/>
          <a:p>
            <a:pPr algn="ctr"/>
            <a:r>
              <a:rPr lang="vi-VN" dirty="0">
                <a:latin typeface="Segoe UI" panose="020B0502040204020203" pitchFamily="34" charset="0"/>
                <a:cs typeface="Segoe UI" panose="020B0502040204020203" pitchFamily="34" charset="0"/>
              </a:rPr>
              <a:t>Hình</a:t>
            </a:r>
            <a:r>
              <a:rPr lang="en-US" dirty="0">
                <a:latin typeface="Segoe UI" panose="020B0502040204020203" pitchFamily="34" charset="0"/>
                <a:cs typeface="Segoe UI" panose="020B0502040204020203" pitchFamily="34" charset="0"/>
              </a:rPr>
              <a:t> 1</a:t>
            </a:r>
            <a:r>
              <a:rPr lang="vi-VN" dirty="0">
                <a:latin typeface="Segoe UI" panose="020B0502040204020203" pitchFamily="34" charset="0"/>
                <a:cs typeface="Segoe UI" panose="020B0502040204020203" pitchFamily="34" charset="0"/>
              </a:rPr>
              <a:t>.</a:t>
            </a:r>
            <a:r>
              <a:rPr lang="en-US" altLang="vi-VN" dirty="0">
                <a:latin typeface="Segoe UI" panose="020B0502040204020203" pitchFamily="34" charset="0"/>
                <a:cs typeface="Segoe UI" panose="020B0502040204020203" pitchFamily="34" charset="0"/>
              </a:rPr>
              <a:t>3</a:t>
            </a:r>
            <a:r>
              <a:rPr lang="vi-VN" dirty="0">
                <a:latin typeface="Segoe UI" panose="020B0502040204020203" pitchFamily="34" charset="0"/>
                <a:cs typeface="Segoe UI" panose="020B0502040204020203" pitchFamily="34" charset="0"/>
              </a:rPr>
              <a:t>: Mạch thông thấp bậc 2</a:t>
            </a:r>
            <a:endParaRPr lang="en-US" dirty="0">
              <a:latin typeface="Segoe UI" panose="020B0502040204020203" pitchFamily="34" charset="0"/>
              <a:cs typeface="Segoe UI" panose="020B05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latin typeface="Segoe UI" panose="020B0502040204020203" pitchFamily="34" charset="0"/>
                <a:cs typeface="Segoe UI" panose="020B0502040204020203" pitchFamily="34" charset="0"/>
              </a:rPr>
              <a:t>Mạch thông cao bậc 2</a:t>
            </a:r>
            <a:endParaRPr lang="en-US" b="1" dirty="0">
              <a:latin typeface="Segoe UI" panose="020B0502040204020203" pitchFamily="34" charset="0"/>
              <a:cs typeface="Segoe UI" panose="020B0502040204020203" pitchFamily="34" charset="0"/>
            </a:endParaRPr>
          </a:p>
        </p:txBody>
      </p:sp>
      <p:pic>
        <p:nvPicPr>
          <p:cNvPr id="7" name="Content Placeholder 6"/>
          <p:cNvPicPr>
            <a:picLocks noGrp="1" noChangeAspect="1"/>
          </p:cNvPicPr>
          <p:nvPr>
            <p:ph idx="1"/>
          </p:nvPr>
        </p:nvPicPr>
        <p:blipFill>
          <a:blip r:embed="rId3"/>
          <a:stretch>
            <a:fillRect/>
          </a:stretch>
        </p:blipFill>
        <p:spPr>
          <a:xfrm>
            <a:off x="5232400" y="1180465"/>
            <a:ext cx="6842125" cy="4002405"/>
          </a:xfrm>
        </p:spPr>
      </p:pic>
      <p:sp>
        <p:nvSpPr>
          <p:cNvPr id="4" name="Date Placeholder 3"/>
          <p:cNvSpPr>
            <a:spLocks noGrp="1"/>
          </p:cNvSpPr>
          <p:nvPr>
            <p:ph type="dt" sz="half" idx="10"/>
          </p:nvPr>
        </p:nvSpPr>
        <p:spPr/>
        <p:txBody>
          <a:bodyPr/>
          <a:lstStyle/>
          <a:p>
            <a:fld id="{8F24CB84-C55C-4A82-835D-EB9452E1C125}" type="datetime1">
              <a:rPr lang="en-US" smtClean="0"/>
              <a:t>1/14/2026</a:t>
            </a:fld>
            <a:endParaRPr lang="en-US"/>
          </a:p>
        </p:txBody>
      </p:sp>
      <p:sp>
        <p:nvSpPr>
          <p:cNvPr id="5" name="Slide Number Placeholder 4"/>
          <p:cNvSpPr>
            <a:spLocks noGrp="1"/>
          </p:cNvSpPr>
          <p:nvPr>
            <p:ph type="sldNum" sz="quarter" idx="12"/>
          </p:nvPr>
        </p:nvSpPr>
        <p:spPr/>
        <p:txBody>
          <a:bodyPr/>
          <a:lstStyle/>
          <a:p>
            <a:fld id="{2F95168B-6F19-4F5F-A403-0F4FF873F036}" type="slidenum">
              <a:rPr lang="en-US" smtClean="0"/>
              <a:t>5</a:t>
            </a:fld>
            <a:r>
              <a:rPr lang="en-US"/>
              <a:t>/9</a:t>
            </a:r>
          </a:p>
        </p:txBody>
      </p:sp>
      <mc:AlternateContent xmlns:mc="http://schemas.openxmlformats.org/markup-compatibility/2006" xmlns:a14="http://schemas.microsoft.com/office/drawing/2010/main">
        <mc:Choice Requires="a14">
          <p:sp>
            <p:nvSpPr>
              <p:cNvPr id="8" name="TextBox 7"/>
              <p:cNvSpPr txBox="1"/>
              <p:nvPr/>
            </p:nvSpPr>
            <p:spPr>
              <a:xfrm>
                <a:off x="955040" y="2299158"/>
                <a:ext cx="4277360" cy="2113784"/>
              </a:xfrm>
              <a:prstGeom prst="rect">
                <a:avLst/>
              </a:prstGeom>
              <a:noFill/>
            </p:spPr>
            <p:txBody>
              <a:bodyPr wrap="square" rtlCol="0">
                <a:spAutoFit/>
              </a:bodyPr>
              <a:lstStyle/>
              <a:p>
                <a14:m>
                  <m:oMath xmlns:m="http://schemas.openxmlformats.org/officeDocument/2006/math">
                    <m:r>
                      <a:rPr lang="vi-VN" sz="2400" b="0" i="1" smtClean="0">
                        <a:latin typeface="Cambria Math" panose="02040503050406030204" pitchFamily="18" charset="0"/>
                      </a:rPr>
                      <m:t>𝑓𝑐</m:t>
                    </m:r>
                    <m:r>
                      <a:rPr lang="vi-VN" sz="2400" b="0" i="1" smtClean="0">
                        <a:latin typeface="Cambria Math" panose="02040503050406030204" pitchFamily="18" charset="0"/>
                      </a:rPr>
                      <m:t>=</m:t>
                    </m:r>
                    <m:f>
                      <m:fPr>
                        <m:ctrlPr>
                          <a:rPr lang="vi-VN" sz="2400" b="0" i="1" smtClean="0">
                            <a:latin typeface="Cambria Math" panose="02040503050406030204" pitchFamily="18" charset="0"/>
                          </a:rPr>
                        </m:ctrlPr>
                      </m:fPr>
                      <m:num>
                        <m:r>
                          <a:rPr lang="vi-VN" sz="2400" b="0" i="1" smtClean="0">
                            <a:latin typeface="Cambria Math" panose="02040503050406030204" pitchFamily="18" charset="0"/>
                          </a:rPr>
                          <m:t>1</m:t>
                        </m:r>
                      </m:num>
                      <m:den>
                        <m:r>
                          <a:rPr lang="vi-VN" sz="2400" b="0" i="1" smtClean="0">
                            <a:latin typeface="Cambria Math" panose="02040503050406030204" pitchFamily="18" charset="0"/>
                          </a:rPr>
                          <m:t>2</m:t>
                        </m:r>
                        <m:r>
                          <a:rPr lang="vi-VN" sz="2400" b="0" i="1" smtClean="0">
                            <a:latin typeface="Cambria Math" panose="02040503050406030204" pitchFamily="18" charset="0"/>
                            <a:ea typeface="Cambria Math" panose="02040503050406030204" pitchFamily="18" charset="0"/>
                          </a:rPr>
                          <m:t>𝜋</m:t>
                        </m:r>
                        <m:rad>
                          <m:radPr>
                            <m:degHide m:val="on"/>
                            <m:ctrlPr>
                              <a:rPr lang="vi-VN" sz="2400" b="0" i="1" smtClean="0">
                                <a:latin typeface="Cambria Math" panose="02040503050406030204" pitchFamily="18" charset="0"/>
                              </a:rPr>
                            </m:ctrlPr>
                          </m:radPr>
                          <m:deg/>
                          <m:e>
                            <m:r>
                              <a:rPr lang="vi-VN" sz="2400" b="0" i="1" smtClean="0">
                                <a:latin typeface="Cambria Math" panose="02040503050406030204" pitchFamily="18" charset="0"/>
                              </a:rPr>
                              <m:t>𝑅</m:t>
                            </m:r>
                            <m:r>
                              <a:rPr lang="vi-VN" sz="2400" b="0" i="1" smtClean="0">
                                <a:latin typeface="Cambria Math" panose="02040503050406030204" pitchFamily="18" charset="0"/>
                              </a:rPr>
                              <m:t>1</m:t>
                            </m:r>
                            <m:r>
                              <a:rPr lang="vi-VN" sz="2400" b="0" i="1" smtClean="0">
                                <a:latin typeface="Cambria Math" panose="02040503050406030204" pitchFamily="18" charset="0"/>
                              </a:rPr>
                              <m:t>𝐶</m:t>
                            </m:r>
                            <m:r>
                              <a:rPr lang="vi-VN" sz="2400" b="0" i="1" smtClean="0">
                                <a:latin typeface="Cambria Math" panose="02040503050406030204" pitchFamily="18" charset="0"/>
                              </a:rPr>
                              <m:t>1</m:t>
                            </m:r>
                            <m:r>
                              <a:rPr lang="vi-VN" sz="2400" b="0" i="1" smtClean="0">
                                <a:latin typeface="Cambria Math" panose="02040503050406030204" pitchFamily="18" charset="0"/>
                              </a:rPr>
                              <m:t>𝑅</m:t>
                            </m:r>
                            <m:r>
                              <a:rPr lang="vi-VN" sz="2400" b="0" i="1" smtClean="0">
                                <a:latin typeface="Cambria Math" panose="02040503050406030204" pitchFamily="18" charset="0"/>
                              </a:rPr>
                              <m:t>2</m:t>
                            </m:r>
                            <m:r>
                              <a:rPr lang="vi-VN" sz="2400" b="0" i="1" smtClean="0">
                                <a:latin typeface="Cambria Math" panose="02040503050406030204" pitchFamily="18" charset="0"/>
                              </a:rPr>
                              <m:t>𝐶</m:t>
                            </m:r>
                            <m:r>
                              <a:rPr lang="vi-VN" sz="2400" b="0" i="1" smtClean="0">
                                <a:latin typeface="Cambria Math" panose="02040503050406030204" pitchFamily="18" charset="0"/>
                              </a:rPr>
                              <m:t>2</m:t>
                            </m:r>
                          </m:e>
                        </m:rad>
                      </m:den>
                    </m:f>
                    <m:r>
                      <a:rPr lang="vi-VN" sz="2400" b="0" i="0" smtClean="0">
                        <a:latin typeface="Cambria Math" panose="02040503050406030204" pitchFamily="18" charset="0"/>
                      </a:rPr>
                      <m:t>=0.5</m:t>
                    </m:r>
                  </m:oMath>
                </a14:m>
                <a:r>
                  <a:rPr lang="vi-VN" sz="2400" b="0" dirty="0">
                    <a:latin typeface="Segoe UI" panose="020B0502040204020203" pitchFamily="34" charset="0"/>
                    <a:cs typeface="Segoe UI" panose="020B0502040204020203" pitchFamily="34" charset="0"/>
                  </a:rPr>
                  <a:t> Hz</a:t>
                </a:r>
              </a:p>
              <a:p>
                <a:endParaRPr lang="vi-VN" sz="2400" dirty="0">
                  <a:latin typeface="Segoe UI" panose="020B0502040204020203" pitchFamily="34" charset="0"/>
                  <a:cs typeface="Segoe UI" panose="020B0502040204020203" pitchFamily="34" charset="0"/>
                </a:endParaRPr>
              </a:p>
              <a:p>
                <a:r>
                  <a:rPr lang="vi-VN" sz="2400" dirty="0">
                    <a:latin typeface="Segoe UI" panose="020B0502040204020203" pitchFamily="34" charset="0"/>
                    <a:cs typeface="Segoe UI" panose="020B0502040204020203" pitchFamily="34" charset="0"/>
                  </a:rPr>
                  <a:t>Chọn C1</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C2</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10uF</a:t>
                </a:r>
              </a:p>
              <a:p>
                <a:pPr marL="285750" indent="-285750">
                  <a:buFont typeface="Symbol" panose="05050102010706020507" pitchFamily="18" charset="2"/>
                  <a:buChar char="Þ"/>
                </a:pPr>
                <a:r>
                  <a:rPr lang="vi-VN" sz="2400" dirty="0">
                    <a:latin typeface="Segoe UI" panose="020B0502040204020203" pitchFamily="34" charset="0"/>
                    <a:cs typeface="Segoe UI" panose="020B0502040204020203" pitchFamily="34" charset="0"/>
                  </a:rPr>
                  <a:t>R1</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R2</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31,18KHz</a:t>
                </a:r>
              </a:p>
              <a:p>
                <a:pPr marL="285750" indent="-285750">
                  <a:buFont typeface="Symbol" panose="05050102010706020507" pitchFamily="18" charset="2"/>
                  <a:buChar char="Þ"/>
                </a:pPr>
                <a:r>
                  <a:rPr lang="vi-VN" sz="2400" dirty="0">
                    <a:latin typeface="Segoe UI" panose="020B0502040204020203" pitchFamily="34" charset="0"/>
                    <a:cs typeface="Segoe UI" panose="020B0502040204020203" pitchFamily="34" charset="0"/>
                  </a:rPr>
                  <a:t>Nối tiếp 3 trở 22K,4.7K,4.7K</a:t>
                </a:r>
                <a:endParaRPr lang="en-US" sz="2400" dirty="0">
                  <a:latin typeface="Segoe UI" panose="020B0502040204020203" pitchFamily="34" charset="0"/>
                  <a:cs typeface="Segoe UI" panose="020B0502040204020203" pitchFamily="34"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955040" y="2299158"/>
                <a:ext cx="4277360" cy="2113784"/>
              </a:xfrm>
              <a:prstGeom prst="rect">
                <a:avLst/>
              </a:prstGeom>
              <a:blipFill>
                <a:blip r:embed="rId4"/>
                <a:stretch>
                  <a:fillRect l="-2282" b="-5764"/>
                </a:stretch>
              </a:blipFill>
            </p:spPr>
            <p:txBody>
              <a:bodyPr/>
              <a:lstStyle/>
              <a:p>
                <a:r>
                  <a:rPr lang="en-US">
                    <a:noFill/>
                  </a:rPr>
                  <a:t> </a:t>
                </a:r>
              </a:p>
            </p:txBody>
          </p:sp>
        </mc:Fallback>
      </mc:AlternateContent>
      <p:sp>
        <p:nvSpPr>
          <p:cNvPr id="9" name="TextBox 8"/>
          <p:cNvSpPr txBox="1"/>
          <p:nvPr/>
        </p:nvSpPr>
        <p:spPr>
          <a:xfrm>
            <a:off x="6093460" y="5183138"/>
            <a:ext cx="6303356" cy="368300"/>
          </a:xfrm>
          <a:prstGeom prst="rect">
            <a:avLst/>
          </a:prstGeom>
          <a:noFill/>
        </p:spPr>
        <p:txBody>
          <a:bodyPr wrap="square" rtlCol="0">
            <a:spAutoFit/>
          </a:bodyPr>
          <a:lstStyle/>
          <a:p>
            <a:pPr algn="ctr"/>
            <a:r>
              <a:rPr lang="vi-VN" dirty="0">
                <a:latin typeface="Segoe UI" panose="020B0502040204020203" pitchFamily="34" charset="0"/>
                <a:cs typeface="Segoe UI" panose="020B0502040204020203" pitchFamily="34" charset="0"/>
              </a:rPr>
              <a:t>Hình</a:t>
            </a:r>
            <a:r>
              <a:rPr lang="en-US" dirty="0">
                <a:latin typeface="Segoe UI" panose="020B0502040204020203" pitchFamily="34" charset="0"/>
                <a:cs typeface="Segoe UI" panose="020B0502040204020203" pitchFamily="34" charset="0"/>
              </a:rPr>
              <a:t> 1</a:t>
            </a:r>
            <a:r>
              <a:rPr lang="vi-VN" dirty="0">
                <a:latin typeface="Segoe UI" panose="020B0502040204020203" pitchFamily="34" charset="0"/>
                <a:cs typeface="Segoe UI" panose="020B0502040204020203" pitchFamily="34" charset="0"/>
              </a:rPr>
              <a:t>.</a:t>
            </a:r>
            <a:r>
              <a:rPr lang="en-US" altLang="vi-VN" dirty="0">
                <a:latin typeface="Segoe UI" panose="020B0502040204020203" pitchFamily="34" charset="0"/>
                <a:cs typeface="Segoe UI" panose="020B0502040204020203" pitchFamily="34" charset="0"/>
              </a:rPr>
              <a:t>4</a:t>
            </a:r>
            <a:r>
              <a:rPr lang="vi-VN" dirty="0">
                <a:latin typeface="Segoe UI" panose="020B0502040204020203" pitchFamily="34" charset="0"/>
                <a:cs typeface="Segoe UI" panose="020B0502040204020203" pitchFamily="34" charset="0"/>
              </a:rPr>
              <a:t>: Mạch thông cao bậc 2</a:t>
            </a:r>
            <a:endParaRPr lang="en-US" dirty="0">
              <a:latin typeface="Segoe UI" panose="020B0502040204020203" pitchFamily="34" charset="0"/>
              <a:cs typeface="Segoe UI" panose="020B05020402040202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latin typeface="Segoe UI" panose="020B0502040204020203" pitchFamily="34" charset="0"/>
                <a:cs typeface="Segoe UI" panose="020B0502040204020203" pitchFamily="34" charset="0"/>
              </a:rPr>
              <a:t>Mạch Notch Filter</a:t>
            </a:r>
            <a:endParaRPr lang="en-US" b="1" dirty="0">
              <a:latin typeface="Segoe UI" panose="020B0502040204020203" pitchFamily="34" charset="0"/>
              <a:cs typeface="Segoe UI" panose="020B0502040204020203" pitchFamily="34" charset="0"/>
            </a:endParaRPr>
          </a:p>
        </p:txBody>
      </p:sp>
      <p:sp>
        <p:nvSpPr>
          <p:cNvPr id="4" name="Date Placeholder 3"/>
          <p:cNvSpPr>
            <a:spLocks noGrp="1"/>
          </p:cNvSpPr>
          <p:nvPr>
            <p:ph type="dt" sz="half" idx="10"/>
          </p:nvPr>
        </p:nvSpPr>
        <p:spPr/>
        <p:txBody>
          <a:bodyPr/>
          <a:lstStyle/>
          <a:p>
            <a:fld id="{8F24CB84-C55C-4A82-835D-EB9452E1C125}" type="datetime1">
              <a:rPr lang="en-US" smtClean="0"/>
              <a:t>1/14/2026</a:t>
            </a:fld>
            <a:endParaRPr lang="en-US"/>
          </a:p>
        </p:txBody>
      </p:sp>
      <p:sp>
        <p:nvSpPr>
          <p:cNvPr id="5" name="Slide Number Placeholder 4"/>
          <p:cNvSpPr>
            <a:spLocks noGrp="1"/>
          </p:cNvSpPr>
          <p:nvPr>
            <p:ph type="sldNum" sz="quarter" idx="12"/>
          </p:nvPr>
        </p:nvSpPr>
        <p:spPr/>
        <p:txBody>
          <a:bodyPr/>
          <a:lstStyle/>
          <a:p>
            <a:fld id="{2F95168B-6F19-4F5F-A403-0F4FF873F036}" type="slidenum">
              <a:rPr lang="en-US" smtClean="0"/>
              <a:t>6</a:t>
            </a:fld>
            <a:r>
              <a:rPr lang="en-US"/>
              <a:t>/9</a:t>
            </a:r>
          </a:p>
        </p:txBody>
      </p:sp>
      <p:pic>
        <p:nvPicPr>
          <p:cNvPr id="13" name="Picture 12"/>
          <p:cNvPicPr>
            <a:picLocks noChangeAspect="1"/>
          </p:cNvPicPr>
          <p:nvPr/>
        </p:nvPicPr>
        <p:blipFill>
          <a:blip r:embed="rId3"/>
          <a:stretch>
            <a:fillRect/>
          </a:stretch>
        </p:blipFill>
        <p:spPr>
          <a:xfrm>
            <a:off x="4724400" y="1112417"/>
            <a:ext cx="7117080" cy="3992897"/>
          </a:xfrm>
          <a:prstGeom prst="rect">
            <a:avLst/>
          </a:prstGeom>
        </p:spPr>
      </p:pic>
      <mc:AlternateContent xmlns:mc="http://schemas.openxmlformats.org/markup-compatibility/2006" xmlns:a14="http://schemas.microsoft.com/office/drawing/2010/main">
        <mc:Choice Requires="a14">
          <p:sp>
            <p:nvSpPr>
              <p:cNvPr id="15" name="TextBox 14"/>
              <p:cNvSpPr txBox="1"/>
              <p:nvPr/>
            </p:nvSpPr>
            <p:spPr>
              <a:xfrm>
                <a:off x="467360" y="2177238"/>
                <a:ext cx="4277360" cy="23247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400" b="0" i="1" smtClean="0">
                          <a:latin typeface="Cambria Math" panose="02040503050406030204" pitchFamily="18" charset="0"/>
                        </a:rPr>
                        <m:t>𝑓𝑐</m:t>
                      </m:r>
                      <m:r>
                        <a:rPr lang="vi-VN" sz="2400" b="0" i="1" smtClean="0">
                          <a:latin typeface="Cambria Math" panose="02040503050406030204" pitchFamily="18" charset="0"/>
                        </a:rPr>
                        <m:t>=</m:t>
                      </m:r>
                      <m:f>
                        <m:fPr>
                          <m:ctrlPr>
                            <a:rPr lang="vi-VN" sz="2400" b="0" i="1" smtClean="0">
                              <a:latin typeface="Cambria Math" panose="02040503050406030204" pitchFamily="18" charset="0"/>
                            </a:rPr>
                          </m:ctrlPr>
                        </m:fPr>
                        <m:num>
                          <m:r>
                            <a:rPr lang="vi-VN" sz="2400" b="0" i="1" smtClean="0">
                              <a:latin typeface="Cambria Math" panose="02040503050406030204" pitchFamily="18" charset="0"/>
                            </a:rPr>
                            <m:t>1</m:t>
                          </m:r>
                        </m:num>
                        <m:den>
                          <m:r>
                            <a:rPr lang="vi-VN" sz="2400" b="0" i="1" smtClean="0">
                              <a:latin typeface="Cambria Math" panose="02040503050406030204" pitchFamily="18" charset="0"/>
                            </a:rPr>
                            <m:t>2</m:t>
                          </m:r>
                          <m:r>
                            <a:rPr lang="vi-VN" sz="2400" b="0" i="1" smtClean="0">
                              <a:latin typeface="Cambria Math" panose="02040503050406030204" pitchFamily="18" charset="0"/>
                              <a:ea typeface="Cambria Math" panose="02040503050406030204" pitchFamily="18" charset="0"/>
                            </a:rPr>
                            <m:t>𝜋</m:t>
                          </m:r>
                          <m:rad>
                            <m:radPr>
                              <m:degHide m:val="on"/>
                              <m:ctrlPr>
                                <a:rPr lang="vi-VN" sz="2400" b="0" i="1" smtClean="0">
                                  <a:latin typeface="Cambria Math" panose="02040503050406030204" pitchFamily="18" charset="0"/>
                                </a:rPr>
                              </m:ctrlPr>
                            </m:radPr>
                            <m:deg/>
                            <m:e>
                              <m:r>
                                <a:rPr lang="vi-VN" sz="2400" b="0" i="1" smtClean="0">
                                  <a:latin typeface="Cambria Math" panose="02040503050406030204" pitchFamily="18" charset="0"/>
                                </a:rPr>
                                <m:t>𝑅</m:t>
                              </m:r>
                              <m:r>
                                <a:rPr lang="vi-VN" sz="2400" b="0" i="1" smtClean="0">
                                  <a:latin typeface="Cambria Math" panose="02040503050406030204" pitchFamily="18" charset="0"/>
                                </a:rPr>
                                <m:t>1</m:t>
                              </m:r>
                              <m:r>
                                <a:rPr lang="vi-VN" sz="2400" b="0" i="1" smtClean="0">
                                  <a:latin typeface="Cambria Math" panose="02040503050406030204" pitchFamily="18" charset="0"/>
                                </a:rPr>
                                <m:t>𝐶</m:t>
                              </m:r>
                              <m:r>
                                <a:rPr lang="vi-VN" sz="2400" b="0" i="1" smtClean="0">
                                  <a:latin typeface="Cambria Math" panose="02040503050406030204" pitchFamily="18" charset="0"/>
                                </a:rPr>
                                <m:t>1</m:t>
                              </m:r>
                              <m:r>
                                <a:rPr lang="vi-VN" sz="2400" b="0" i="1" smtClean="0">
                                  <a:latin typeface="Cambria Math" panose="02040503050406030204" pitchFamily="18" charset="0"/>
                                </a:rPr>
                                <m:t>𝑅</m:t>
                              </m:r>
                              <m:r>
                                <a:rPr lang="vi-VN" sz="2400" b="0" i="1" smtClean="0">
                                  <a:latin typeface="Cambria Math" panose="02040503050406030204" pitchFamily="18" charset="0"/>
                                </a:rPr>
                                <m:t>2</m:t>
                              </m:r>
                              <m:r>
                                <a:rPr lang="vi-VN" sz="2400" b="0" i="1" smtClean="0">
                                  <a:latin typeface="Cambria Math" panose="02040503050406030204" pitchFamily="18" charset="0"/>
                                </a:rPr>
                                <m:t>𝐶</m:t>
                              </m:r>
                              <m:r>
                                <a:rPr lang="vi-VN" sz="2400" b="0" i="1" smtClean="0">
                                  <a:latin typeface="Cambria Math" panose="02040503050406030204" pitchFamily="18" charset="0"/>
                                </a:rPr>
                                <m:t>2</m:t>
                              </m:r>
                            </m:e>
                          </m:rad>
                        </m:den>
                      </m:f>
                      <m:r>
                        <a:rPr lang="vi-VN" sz="2400" b="0" i="0" smtClean="0">
                          <a:latin typeface="Cambria Math" panose="02040503050406030204" pitchFamily="18" charset="0"/>
                        </a:rPr>
                        <m:t>=</m:t>
                      </m:r>
                      <m:r>
                        <a:rPr lang="vi-VN" sz="2400" b="0" i="0" smtClean="0">
                          <a:latin typeface="Cambria Math" panose="02040503050406030204" pitchFamily="18" charset="0"/>
                        </a:rPr>
                        <m:t>50</m:t>
                      </m:r>
                      <m:r>
                        <a:rPr lang="vi-VN" sz="2400" b="0" i="0" smtClean="0">
                          <a:latin typeface="Cambria Math" panose="02040503050406030204" pitchFamily="18" charset="0"/>
                        </a:rPr>
                        <m:t> </m:t>
                      </m:r>
                      <m:r>
                        <m:rPr>
                          <m:sty m:val="p"/>
                        </m:rPr>
                        <a:rPr lang="vi-VN" sz="2400" b="0" i="0" smtClean="0">
                          <a:latin typeface="Cambria Math" panose="02040503050406030204" pitchFamily="18" charset="0"/>
                        </a:rPr>
                        <m:t>Hz</m:t>
                      </m:r>
                    </m:oMath>
                  </m:oMathPara>
                </a14:m>
                <a:endParaRPr lang="vi-VN" sz="2400" b="0" dirty="0">
                  <a:latin typeface="Segoe UI" panose="020B0502040204020203" pitchFamily="34" charset="0"/>
                  <a:cs typeface="Segoe UI" panose="020B0502040204020203" pitchFamily="34" charset="0"/>
                </a:endParaRPr>
              </a:p>
              <a:p>
                <a:endParaRPr lang="vi-VN" sz="2400" dirty="0">
                  <a:latin typeface="Segoe UI" panose="020B0502040204020203" pitchFamily="34" charset="0"/>
                  <a:cs typeface="Segoe UI" panose="020B0502040204020203" pitchFamily="34" charset="0"/>
                </a:endParaRPr>
              </a:p>
              <a:p>
                <a:r>
                  <a:rPr lang="vi-VN" sz="2400" dirty="0">
                    <a:latin typeface="Segoe UI" panose="020B0502040204020203" pitchFamily="34" charset="0"/>
                    <a:cs typeface="Segoe UI" panose="020B0502040204020203" pitchFamily="34" charset="0"/>
                  </a:rPr>
                  <a:t>Chọn C1</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C2</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100nF</a:t>
                </a:r>
              </a:p>
              <a:p>
                <a:pPr marL="285750" indent="-285750">
                  <a:buFont typeface="Symbol" panose="05050102010706020507" pitchFamily="18" charset="2"/>
                  <a:buChar char="Þ"/>
                </a:pPr>
                <a:r>
                  <a:rPr lang="vi-VN" sz="2400" dirty="0">
                    <a:latin typeface="Segoe UI" panose="020B0502040204020203" pitchFamily="34" charset="0"/>
                    <a:cs typeface="Segoe UI" panose="020B0502040204020203" pitchFamily="34" charset="0"/>
                  </a:rPr>
                  <a:t>R1</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R2</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a:t>
                </a:r>
                <a:r>
                  <a:rPr lang="en-US" altLang="vi-VN" sz="2400" dirty="0">
                    <a:latin typeface="Segoe UI" panose="020B0502040204020203" pitchFamily="34" charset="0"/>
                    <a:cs typeface="Segoe UI" panose="020B0502040204020203" pitchFamily="34" charset="0"/>
                  </a:rPr>
                  <a:t> </a:t>
                </a:r>
                <a:r>
                  <a:rPr lang="vi-VN" sz="2400" dirty="0">
                    <a:latin typeface="Segoe UI" panose="020B0502040204020203" pitchFamily="34" charset="0"/>
                    <a:cs typeface="Segoe UI" panose="020B0502040204020203" pitchFamily="34" charset="0"/>
                  </a:rPr>
                  <a:t>31.8KHz</a:t>
                </a:r>
              </a:p>
              <a:p>
                <a:pPr marL="285750" indent="-285750">
                  <a:buFont typeface="Symbol" panose="05050102010706020507" pitchFamily="18" charset="2"/>
                  <a:buChar char="Þ"/>
                </a:pPr>
                <a:r>
                  <a:rPr lang="vi-VN" sz="2400" dirty="0">
                    <a:latin typeface="Segoe UI" panose="020B0502040204020203" pitchFamily="34" charset="0"/>
                    <a:cs typeface="Segoe UI" panose="020B0502040204020203" pitchFamily="34" charset="0"/>
                  </a:rPr>
                  <a:t>Nối tiếp 2 trở 10K,22K</a:t>
                </a:r>
                <a:endParaRPr lang="en-US" sz="2400" dirty="0">
                  <a:latin typeface="Segoe UI" panose="020B0502040204020203" pitchFamily="34" charset="0"/>
                  <a:cs typeface="Segoe UI" panose="020B0502040204020203" pitchFamily="34"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467360" y="2177238"/>
                <a:ext cx="4277360" cy="2324735"/>
              </a:xfrm>
              <a:prstGeom prst="rect">
                <a:avLst/>
              </a:prstGeom>
              <a:blipFill>
                <a:blip r:embed="rId4"/>
                <a:stretch>
                  <a:fillRect l="-2282" b="-5497"/>
                </a:stretch>
              </a:blipFill>
            </p:spPr>
            <p:txBody>
              <a:bodyPr/>
              <a:lstStyle/>
              <a:p>
                <a:r>
                  <a:rPr lang="en-US">
                    <a:noFill/>
                  </a:rPr>
                  <a:t> </a:t>
                </a:r>
              </a:p>
            </p:txBody>
          </p:sp>
        </mc:Fallback>
      </mc:AlternateContent>
      <p:sp>
        <p:nvSpPr>
          <p:cNvPr id="16" name="TextBox 15"/>
          <p:cNvSpPr txBox="1"/>
          <p:nvPr/>
        </p:nvSpPr>
        <p:spPr>
          <a:xfrm>
            <a:off x="5538124" y="5217658"/>
            <a:ext cx="6303356" cy="368300"/>
          </a:xfrm>
          <a:prstGeom prst="rect">
            <a:avLst/>
          </a:prstGeom>
          <a:noFill/>
        </p:spPr>
        <p:txBody>
          <a:bodyPr wrap="square" rtlCol="0">
            <a:spAutoFit/>
          </a:bodyPr>
          <a:lstStyle/>
          <a:p>
            <a:pPr algn="ctr"/>
            <a:r>
              <a:rPr lang="vi-VN" dirty="0">
                <a:latin typeface="Segoe UI" panose="020B0502040204020203" pitchFamily="34" charset="0"/>
                <a:cs typeface="Segoe UI" panose="020B0502040204020203" pitchFamily="34" charset="0"/>
              </a:rPr>
              <a:t>Hình</a:t>
            </a:r>
            <a:r>
              <a:rPr lang="en-US" dirty="0">
                <a:latin typeface="Segoe UI" panose="020B0502040204020203" pitchFamily="34" charset="0"/>
                <a:cs typeface="Segoe UI" panose="020B0502040204020203" pitchFamily="34" charset="0"/>
              </a:rPr>
              <a:t> 1</a:t>
            </a:r>
            <a:r>
              <a:rPr lang="vi-VN" dirty="0">
                <a:latin typeface="Segoe UI" panose="020B0502040204020203" pitchFamily="34" charset="0"/>
                <a:cs typeface="Segoe UI" panose="020B0502040204020203" pitchFamily="34" charset="0"/>
              </a:rPr>
              <a:t>.</a:t>
            </a:r>
            <a:r>
              <a:rPr lang="en-US" altLang="vi-VN" dirty="0">
                <a:latin typeface="Segoe UI" panose="020B0502040204020203" pitchFamily="34" charset="0"/>
                <a:cs typeface="Segoe UI" panose="020B0502040204020203" pitchFamily="34" charset="0"/>
              </a:rPr>
              <a:t>5</a:t>
            </a:r>
            <a:r>
              <a:rPr lang="vi-VN" dirty="0">
                <a:latin typeface="Segoe UI" panose="020B0502040204020203" pitchFamily="34" charset="0"/>
                <a:cs typeface="Segoe UI" panose="020B0502040204020203" pitchFamily="34" charset="0"/>
              </a:rPr>
              <a:t>: Mạch Notch Filter</a:t>
            </a:r>
            <a:endParaRPr lang="en-US" dirty="0">
              <a:latin typeface="Segoe UI" panose="020B0502040204020203" pitchFamily="34" charset="0"/>
              <a:cs typeface="Segoe UI" panose="020B05020402040202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356350"/>
            <a:ext cx="2743200" cy="365125"/>
          </a:xfrm>
        </p:spPr>
        <p:txBody>
          <a:bodyPr/>
          <a:lstStyle/>
          <a:p>
            <a:fld id="{8F24CB84-C55C-4A82-835D-EB9452E1C125}" type="datetime1">
              <a:rPr lang="en-US" smtClean="0"/>
              <a:t>1/14/2026</a:t>
            </a:fld>
            <a:endParaRPr lang="en-US"/>
          </a:p>
        </p:txBody>
      </p:sp>
      <p:sp>
        <p:nvSpPr>
          <p:cNvPr id="5" name="Slide Number Placeholder 4"/>
          <p:cNvSpPr>
            <a:spLocks noGrp="1"/>
          </p:cNvSpPr>
          <p:nvPr>
            <p:ph type="sldNum" sz="quarter" idx="12"/>
          </p:nvPr>
        </p:nvSpPr>
        <p:spPr>
          <a:xfrm>
            <a:off x="9448800" y="6356350"/>
            <a:ext cx="2743200" cy="365125"/>
          </a:xfrm>
        </p:spPr>
        <p:txBody>
          <a:bodyPr/>
          <a:lstStyle/>
          <a:p>
            <a:fld id="{2F95168B-6F19-4F5F-A403-0F4FF873F036}" type="slidenum">
              <a:rPr lang="en-US" smtClean="0"/>
              <a:t>7</a:t>
            </a:fld>
            <a:r>
              <a:rPr lang="en-US"/>
              <a:t>/9</a:t>
            </a:r>
          </a:p>
        </p:txBody>
      </p:sp>
      <p:sp>
        <p:nvSpPr>
          <p:cNvPr id="6" name="TextBox 5"/>
          <p:cNvSpPr txBox="1"/>
          <p:nvPr/>
        </p:nvSpPr>
        <p:spPr>
          <a:xfrm>
            <a:off x="1530220" y="2767280"/>
            <a:ext cx="767080" cy="1322070"/>
          </a:xfrm>
          <a:prstGeom prst="rect">
            <a:avLst/>
          </a:prstGeom>
          <a:noFill/>
        </p:spPr>
        <p:txBody>
          <a:bodyPr wrap="none" rtlCol="0">
            <a:spAutoFit/>
          </a:bodyPr>
          <a:lstStyle/>
          <a:p>
            <a:r>
              <a:rPr lang="en-US" sz="8000" b="1">
                <a:solidFill>
                  <a:schemeClr val="bg1"/>
                </a:solidFill>
                <a:latin typeface="Segoe UI" panose="020B0502040204020203" pitchFamily="34" charset="0"/>
                <a:cs typeface="Segoe UI" panose="020B0502040204020203" pitchFamily="34" charset="0"/>
              </a:rPr>
              <a:t>2</a:t>
            </a:r>
          </a:p>
        </p:txBody>
      </p:sp>
      <p:sp>
        <p:nvSpPr>
          <p:cNvPr id="7" name="TextBox 6"/>
          <p:cNvSpPr txBox="1"/>
          <p:nvPr/>
        </p:nvSpPr>
        <p:spPr>
          <a:xfrm>
            <a:off x="5241113" y="2920950"/>
            <a:ext cx="7879067" cy="1014730"/>
          </a:xfrm>
          <a:prstGeom prst="rect">
            <a:avLst/>
          </a:prstGeom>
          <a:noFill/>
        </p:spPr>
        <p:txBody>
          <a:bodyPr wrap="square" rtlCol="0">
            <a:spAutoFit/>
          </a:bodyPr>
          <a:lstStyle/>
          <a:p>
            <a:r>
              <a:rPr lang="vi-VN" sz="6000" b="1" dirty="0">
                <a:solidFill>
                  <a:schemeClr val="bg1"/>
                </a:solidFill>
                <a:latin typeface="Segoe UI" panose="020B0502040204020203" pitchFamily="34" charset="0"/>
                <a:cs typeface="Segoe UI" panose="020B0502040204020203" pitchFamily="34" charset="0"/>
              </a:rPr>
              <a:t>Kết quả</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latin typeface="Segoe UI" panose="020B0502040204020203" pitchFamily="34" charset="0"/>
                <a:cs typeface="Segoe UI" panose="020B0502040204020203" pitchFamily="34" charset="0"/>
              </a:rPr>
              <a:t>Sử dụng AD8232</a:t>
            </a:r>
            <a:r>
              <a:rPr lang="vi-VN" dirty="0">
                <a:latin typeface="Segoe UI" panose="020B0502040204020203" pitchFamily="34" charset="0"/>
                <a:cs typeface="Segoe UI" panose="020B0502040204020203" pitchFamily="34" charset="0"/>
              </a:rPr>
              <a:t> </a:t>
            </a:r>
            <a:endParaRPr lang="en-US" dirty="0">
              <a:latin typeface="Segoe UI" panose="020B0502040204020203" pitchFamily="34" charset="0"/>
              <a:cs typeface="Segoe UI" panose="020B0502040204020203" pitchFamily="34" charset="0"/>
            </a:endParaRP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841500" y="1149985"/>
            <a:ext cx="8582660" cy="4559935"/>
          </a:xfrm>
        </p:spPr>
      </p:pic>
      <p:sp>
        <p:nvSpPr>
          <p:cNvPr id="4" name="Date Placeholder 3"/>
          <p:cNvSpPr>
            <a:spLocks noGrp="1"/>
          </p:cNvSpPr>
          <p:nvPr>
            <p:ph type="dt" sz="half" idx="10"/>
          </p:nvPr>
        </p:nvSpPr>
        <p:spPr/>
        <p:txBody>
          <a:bodyPr/>
          <a:lstStyle/>
          <a:p>
            <a:fld id="{8F24CB84-C55C-4A82-835D-EB9452E1C125}" type="datetime1">
              <a:rPr lang="en-US" smtClean="0"/>
              <a:t>1/14/2026</a:t>
            </a:fld>
            <a:endParaRPr lang="en-US"/>
          </a:p>
        </p:txBody>
      </p:sp>
      <p:sp>
        <p:nvSpPr>
          <p:cNvPr id="5" name="Slide Number Placeholder 4"/>
          <p:cNvSpPr>
            <a:spLocks noGrp="1"/>
          </p:cNvSpPr>
          <p:nvPr>
            <p:ph type="sldNum" sz="quarter" idx="12"/>
          </p:nvPr>
        </p:nvSpPr>
        <p:spPr/>
        <p:txBody>
          <a:bodyPr/>
          <a:lstStyle/>
          <a:p>
            <a:fld id="{2F95168B-6F19-4F5F-A403-0F4FF873F036}" type="slidenum">
              <a:rPr lang="en-US" smtClean="0"/>
              <a:t>8</a:t>
            </a:fld>
            <a:r>
              <a:rPr lang="en-US"/>
              <a:t>/9</a:t>
            </a:r>
          </a:p>
        </p:txBody>
      </p:sp>
      <p:sp>
        <p:nvSpPr>
          <p:cNvPr id="8" name="Content Placeholder 8"/>
          <p:cNvSpPr txBox="1"/>
          <p:nvPr/>
        </p:nvSpPr>
        <p:spPr>
          <a:xfrm>
            <a:off x="3073789" y="5891407"/>
            <a:ext cx="8101576" cy="365125"/>
          </a:xfrm>
          <a:prstGeom prst="rect">
            <a:avLst/>
          </a:prstGeom>
        </p:spPr>
        <p:txBody>
          <a:bodyPr vert="horz" lIns="91440" tIns="45720" rIns="91440" bIns="45720" rtlCol="0">
            <a:normAutofit fontScale="8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dirty="0">
                <a:latin typeface="Segoe UI" panose="020B0502040204020203" pitchFamily="34" charset="0"/>
                <a:cs typeface="Segoe UI" panose="020B0502040204020203" pitchFamily="34" charset="0"/>
              </a:rPr>
              <a:t>Hình </a:t>
            </a:r>
            <a:r>
              <a:rPr lang="en-US" altLang="vi-VN" dirty="0">
                <a:latin typeface="Segoe UI" panose="020B0502040204020203" pitchFamily="34" charset="0"/>
                <a:cs typeface="Segoe UI" panose="020B0502040204020203" pitchFamily="34" charset="0"/>
              </a:rPr>
              <a:t>2</a:t>
            </a:r>
            <a:r>
              <a:rPr lang="vi-VN" dirty="0">
                <a:latin typeface="Segoe UI" panose="020B0502040204020203" pitchFamily="34" charset="0"/>
                <a:cs typeface="Segoe UI" panose="020B0502040204020203" pitchFamily="34" charset="0"/>
              </a:rPr>
              <a:t>.1: Kết quả sau </a:t>
            </a:r>
            <a:r>
              <a:rPr lang="en-US" dirty="0" err="1">
                <a:latin typeface="Segoe UI" panose="020B0502040204020203" pitchFamily="34" charset="0"/>
                <a:cs typeface="Segoe UI" panose="020B0502040204020203" pitchFamily="34" charset="0"/>
              </a:rPr>
              <a:t>khi</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lấy</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mẫu</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trên</a:t>
            </a:r>
            <a:r>
              <a:rPr lang="en-US" dirty="0">
                <a:latin typeface="Segoe UI" panose="020B0502040204020203" pitchFamily="34" charset="0"/>
                <a:cs typeface="Segoe UI" panose="020B0502040204020203" pitchFamily="34" charset="0"/>
              </a:rPr>
              <a:t> Arduino IDE</a:t>
            </a:r>
            <a:r>
              <a:rPr lang="vi-VN" dirty="0">
                <a:latin typeface="Segoe UI" panose="020B0502040204020203" pitchFamily="34" charset="0"/>
                <a:cs typeface="Segoe UI" panose="020B0502040204020203" pitchFamily="34" charset="0"/>
              </a:rPr>
              <a:t> </a:t>
            </a:r>
            <a:endParaRPr lang="en-US" dirty="0">
              <a:latin typeface="Segoe UI" panose="020B0502040204020203" pitchFamily="34" charset="0"/>
              <a:cs typeface="Segoe UI" panose="020B0502040204020203"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7924364-8F09-6A9A-0245-242C5386FD79}"/>
              </a:ext>
            </a:extLst>
          </p:cNvPr>
          <p:cNvSpPr>
            <a:spLocks noGrp="1"/>
          </p:cNvSpPr>
          <p:nvPr>
            <p:ph type="title"/>
          </p:nvPr>
        </p:nvSpPr>
        <p:spPr/>
        <p:txBody>
          <a:bodyPr>
            <a:normAutofit fontScale="90000"/>
          </a:bodyPr>
          <a:lstStyle/>
          <a:p>
            <a:r>
              <a:rPr lang="vi-VN" b="1" dirty="0">
                <a:latin typeface="Segoe UI" panose="020B0502040204020203" pitchFamily="34" charset="0"/>
                <a:cs typeface="Segoe UI" panose="020B0502040204020203" pitchFamily="34" charset="0"/>
              </a:rPr>
              <a:t>Đồ thị điện tim</a:t>
            </a:r>
            <a:endParaRPr lang="en-US" dirty="0"/>
          </a:p>
        </p:txBody>
      </p:sp>
      <p:sp>
        <p:nvSpPr>
          <p:cNvPr id="4" name="Chỗ dành sẵn cho Ngày tháng 3">
            <a:extLst>
              <a:ext uri="{FF2B5EF4-FFF2-40B4-BE49-F238E27FC236}">
                <a16:creationId xmlns:a16="http://schemas.microsoft.com/office/drawing/2014/main" id="{02E180D3-3519-BEC5-3EED-6A7419B4027A}"/>
              </a:ext>
            </a:extLst>
          </p:cNvPr>
          <p:cNvSpPr>
            <a:spLocks noGrp="1"/>
          </p:cNvSpPr>
          <p:nvPr>
            <p:ph type="dt" sz="half" idx="10"/>
          </p:nvPr>
        </p:nvSpPr>
        <p:spPr/>
        <p:txBody>
          <a:bodyPr/>
          <a:lstStyle/>
          <a:p>
            <a:fld id="{8F24CB84-C55C-4A82-835D-EB9452E1C125}" type="datetime1">
              <a:rPr lang="en-US" smtClean="0"/>
              <a:t>1/14/2026</a:t>
            </a:fld>
            <a:endParaRPr lang="en-US"/>
          </a:p>
        </p:txBody>
      </p:sp>
      <p:sp>
        <p:nvSpPr>
          <p:cNvPr id="5" name="Chỗ dành sẵn cho Số hiệu Bản chiếu 4">
            <a:extLst>
              <a:ext uri="{FF2B5EF4-FFF2-40B4-BE49-F238E27FC236}">
                <a16:creationId xmlns:a16="http://schemas.microsoft.com/office/drawing/2014/main" id="{6AF7617F-3038-51FD-9C8F-F5564EB84D30}"/>
              </a:ext>
            </a:extLst>
          </p:cNvPr>
          <p:cNvSpPr>
            <a:spLocks noGrp="1"/>
          </p:cNvSpPr>
          <p:nvPr>
            <p:ph type="sldNum" sz="quarter" idx="12"/>
          </p:nvPr>
        </p:nvSpPr>
        <p:spPr/>
        <p:txBody>
          <a:bodyPr/>
          <a:lstStyle/>
          <a:p>
            <a:fld id="{2F95168B-6F19-4F5F-A403-0F4FF873F036}" type="slidenum">
              <a:rPr lang="en-US" smtClean="0"/>
              <a:t>9</a:t>
            </a:fld>
            <a:endParaRPr lang="en-US"/>
          </a:p>
        </p:txBody>
      </p:sp>
      <p:pic>
        <p:nvPicPr>
          <p:cNvPr id="7" name="Hình ảnh 6" descr="Ảnh có chứa văn bản, ảnh chụp màn hình, biểu đồ, Phông chữ&#10;&#10;Nội dung do AI tạo ra có thể không chính xác.">
            <a:extLst>
              <a:ext uri="{FF2B5EF4-FFF2-40B4-BE49-F238E27FC236}">
                <a16:creationId xmlns:a16="http://schemas.microsoft.com/office/drawing/2014/main" id="{DCC36081-275D-B95C-B70D-AA393193708E}"/>
              </a:ext>
            </a:extLst>
          </p:cNvPr>
          <p:cNvPicPr>
            <a:picLocks noChangeAspect="1"/>
          </p:cNvPicPr>
          <p:nvPr/>
        </p:nvPicPr>
        <p:blipFill>
          <a:blip r:embed="rId2"/>
          <a:stretch>
            <a:fillRect/>
          </a:stretch>
        </p:blipFill>
        <p:spPr>
          <a:xfrm>
            <a:off x="2570672" y="1305335"/>
            <a:ext cx="6444920" cy="4247330"/>
          </a:xfrm>
          <a:prstGeom prst="rect">
            <a:avLst/>
          </a:prstGeom>
        </p:spPr>
      </p:pic>
      <p:sp>
        <p:nvSpPr>
          <p:cNvPr id="8" name="Content Placeholder 8">
            <a:extLst>
              <a:ext uri="{FF2B5EF4-FFF2-40B4-BE49-F238E27FC236}">
                <a16:creationId xmlns:a16="http://schemas.microsoft.com/office/drawing/2014/main" id="{941E083A-FB17-030B-CBC5-5F3F7A93B3D1}"/>
              </a:ext>
            </a:extLst>
          </p:cNvPr>
          <p:cNvSpPr txBox="1"/>
          <p:nvPr/>
        </p:nvSpPr>
        <p:spPr>
          <a:xfrm>
            <a:off x="3073789" y="5891407"/>
            <a:ext cx="8101576" cy="365125"/>
          </a:xfrm>
          <a:prstGeom prst="rect">
            <a:avLst/>
          </a:prstGeom>
        </p:spPr>
        <p:txBody>
          <a:bodyPr vert="horz" lIns="91440" tIns="45720" rIns="91440" bIns="45720" rtlCol="0">
            <a:normAutofit fontScale="8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dirty="0">
                <a:latin typeface="Segoe UI" panose="020B0502040204020203" pitchFamily="34" charset="0"/>
                <a:cs typeface="Segoe UI" panose="020B0502040204020203" pitchFamily="34" charset="0"/>
              </a:rPr>
              <a:t>Hình </a:t>
            </a:r>
            <a:r>
              <a:rPr lang="en-US" altLang="vi-VN" dirty="0">
                <a:latin typeface="Segoe UI" panose="020B0502040204020203" pitchFamily="34" charset="0"/>
                <a:cs typeface="Segoe UI" panose="020B0502040204020203" pitchFamily="34" charset="0"/>
              </a:rPr>
              <a:t>2</a:t>
            </a:r>
            <a:r>
              <a:rPr lang="vi-VN" dirty="0">
                <a:latin typeface="Segoe UI" panose="020B0502040204020203" pitchFamily="34" charset="0"/>
                <a:cs typeface="Segoe UI" panose="020B0502040204020203" pitchFamily="34" charset="0"/>
              </a:rPr>
              <a:t>.</a:t>
            </a:r>
            <a:r>
              <a:rPr lang="en-US" dirty="0">
                <a:latin typeface="Segoe UI" panose="020B0502040204020203" pitchFamily="34" charset="0"/>
                <a:cs typeface="Segoe UI" panose="020B0502040204020203" pitchFamily="34" charset="0"/>
              </a:rPr>
              <a:t>2</a:t>
            </a:r>
            <a:r>
              <a:rPr lang="vi-VN"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Đồ</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thị</a:t>
            </a:r>
            <a:r>
              <a:rPr lang="en-US" dirty="0">
                <a:latin typeface="Segoe UI" panose="020B0502040204020203" pitchFamily="34" charset="0"/>
                <a:cs typeface="Segoe UI" panose="020B0502040204020203" pitchFamily="34" charset="0"/>
              </a:rPr>
              <a:t> ECG </a:t>
            </a:r>
            <a:r>
              <a:rPr lang="en-US" dirty="0" err="1">
                <a:latin typeface="Segoe UI" panose="020B0502040204020203" pitchFamily="34" charset="0"/>
                <a:cs typeface="Segoe UI" panose="020B0502040204020203" pitchFamily="34" charset="0"/>
              </a:rPr>
              <a:t>được</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trình</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chiếu</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trên</a:t>
            </a:r>
            <a:r>
              <a:rPr lang="en-US" dirty="0">
                <a:latin typeface="Segoe UI" panose="020B0502040204020203" pitchFamily="34" charset="0"/>
                <a:cs typeface="Segoe UI" panose="020B0502040204020203" pitchFamily="34" charset="0"/>
              </a:rPr>
              <a:t> Blynk</a:t>
            </a:r>
          </a:p>
        </p:txBody>
      </p:sp>
    </p:spTree>
    <p:extLst>
      <p:ext uri="{BB962C8B-B14F-4D97-AF65-F5344CB8AC3E}">
        <p14:creationId xmlns:p14="http://schemas.microsoft.com/office/powerpoint/2010/main" val="3782918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356350"/>
            <a:ext cx="2743200" cy="365125"/>
          </a:xfrm>
        </p:spPr>
        <p:txBody>
          <a:bodyPr/>
          <a:lstStyle/>
          <a:p>
            <a:fld id="{8F24CB84-C55C-4A82-835D-EB9452E1C125}" type="datetime1">
              <a:rPr lang="en-US" smtClean="0"/>
              <a:t>1/14/2026</a:t>
            </a:fld>
            <a:endParaRPr lang="en-US"/>
          </a:p>
        </p:txBody>
      </p:sp>
      <p:sp>
        <p:nvSpPr>
          <p:cNvPr id="5" name="Slide Number Placeholder 4"/>
          <p:cNvSpPr>
            <a:spLocks noGrp="1"/>
          </p:cNvSpPr>
          <p:nvPr>
            <p:ph type="sldNum" sz="quarter" idx="12"/>
          </p:nvPr>
        </p:nvSpPr>
        <p:spPr>
          <a:xfrm>
            <a:off x="9448800" y="6356350"/>
            <a:ext cx="2743200" cy="365125"/>
          </a:xfrm>
        </p:spPr>
        <p:txBody>
          <a:bodyPr/>
          <a:lstStyle/>
          <a:p>
            <a:fld id="{2F95168B-6F19-4F5F-A403-0F4FF873F036}" type="slidenum">
              <a:rPr lang="en-US" smtClean="0"/>
              <a:t>10</a:t>
            </a:fld>
            <a:r>
              <a:rPr lang="en-US" dirty="0"/>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409</Words>
  <Application>Microsoft Office PowerPoint</Application>
  <PresentationFormat>Màn hình rộng</PresentationFormat>
  <Paragraphs>58</Paragraphs>
  <Slides>10</Slides>
  <Notes>3</Notes>
  <HiddenSlides>0</HiddenSlides>
  <MMClips>0</MMClips>
  <ScaleCrop>false</ScaleCrop>
  <HeadingPairs>
    <vt:vector size="6" baseType="variant">
      <vt:variant>
        <vt:lpstr>Phông được Dùng</vt:lpstr>
      </vt:variant>
      <vt:variant>
        <vt:i4>6</vt:i4>
      </vt:variant>
      <vt:variant>
        <vt:lpstr>Chủ đề</vt:lpstr>
      </vt:variant>
      <vt:variant>
        <vt:i4>1</vt:i4>
      </vt:variant>
      <vt:variant>
        <vt:lpstr>Tiêu đề Bản chiếu</vt:lpstr>
      </vt:variant>
      <vt:variant>
        <vt:i4>10</vt:i4>
      </vt:variant>
    </vt:vector>
  </HeadingPairs>
  <TitlesOfParts>
    <vt:vector size="17" baseType="lpstr">
      <vt:lpstr>Arial</vt:lpstr>
      <vt:lpstr>Calibri</vt:lpstr>
      <vt:lpstr>Calibri Light</vt:lpstr>
      <vt:lpstr>Cambria Math</vt:lpstr>
      <vt:lpstr>Segoe UI</vt:lpstr>
      <vt:lpstr>Symbol</vt:lpstr>
      <vt:lpstr>Office Theme</vt:lpstr>
      <vt:lpstr>Bản trình bày PowerPoint</vt:lpstr>
      <vt:lpstr>Bản trình bày PowerPoint</vt:lpstr>
      <vt:lpstr>Sơ đồ mạch tổng quát</vt:lpstr>
      <vt:lpstr>Thông thấp bậc 2</vt:lpstr>
      <vt:lpstr>Mạch thông cao bậc 2</vt:lpstr>
      <vt:lpstr>Mạch Notch Filter</vt:lpstr>
      <vt:lpstr>Bản trình bày PowerPoint</vt:lpstr>
      <vt:lpstr>Sử dụng AD8232 </vt:lpstr>
      <vt:lpstr>Đồ thị điện tim</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ĐỨC HÙNG</dc:creator>
  <cp:lastModifiedBy>Aileen Miosky</cp:lastModifiedBy>
  <cp:revision>37</cp:revision>
  <dcterms:created xsi:type="dcterms:W3CDTF">2024-01-24T03:09:00Z</dcterms:created>
  <dcterms:modified xsi:type="dcterms:W3CDTF">2026-01-14T02:13:13Z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6B0B299AF10F4E9F8E82E6C06BA9A9BE_12</vt:lpwstr>
  </property>
  <property fmtid="{D5CDD505-2E9C-101B-9397-08002B2CF9AE}" pid="3" name="KSOProductBuildVer">
    <vt:lpwstr>1033-12.2.0.19307</vt:lpwstr>
  </property>
</Properties>
</file>